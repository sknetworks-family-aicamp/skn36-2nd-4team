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3d9e3e84044bfe" /><Relationship Type="http://schemas.openxmlformats.org/officeDocument/2006/relationships/extended-properties" Target="/docProps/app.xml" Id="R7cdef9ff157f4392" /><Relationship Type="http://schemas.openxmlformats.org/officeDocument/2006/relationships/officeDocument" Target="/ppt/presentation.xml" Id="R3a732ebd8ab544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49dac2a4cd480a"/>
  </p:sldMasterIdLst>
  <p:notesMasterIdLst>
    <p:notesMasterId xmlns:r="http://schemas.openxmlformats.org/officeDocument/2006/relationships" r:id="Ra3605955dbdb4a06"/>
  </p:notesMasterIdLst>
  <p:sldIdLst>
    <p:sldId xmlns:r="http://schemas.openxmlformats.org/officeDocument/2006/relationships" id="256" r:id="R2cec727637f24447"/>
    <p:sldId xmlns:r="http://schemas.openxmlformats.org/officeDocument/2006/relationships" id="257" r:id="Rfcf33959ace04f87"/>
    <p:sldId xmlns:r="http://schemas.openxmlformats.org/officeDocument/2006/relationships" id="258" r:id="Rd2790eb1093c4c89"/>
    <p:sldId xmlns:r="http://schemas.openxmlformats.org/officeDocument/2006/relationships" id="259" r:id="Reba9b600978d4375"/>
    <p:sldId xmlns:r="http://schemas.openxmlformats.org/officeDocument/2006/relationships" id="260" r:id="R3d4b42003fe04e8e"/>
    <p:sldId xmlns:r="http://schemas.openxmlformats.org/officeDocument/2006/relationships" id="261" r:id="R96231fae6ec14de4"/>
    <p:sldId xmlns:r="http://schemas.openxmlformats.org/officeDocument/2006/relationships" id="262" r:id="Rd575494bac1d4d10"/>
    <p:sldId xmlns:r="http://schemas.openxmlformats.org/officeDocument/2006/relationships" id="263" r:id="R06e95e50f90b4721"/>
    <p:sldId xmlns:r="http://schemas.openxmlformats.org/officeDocument/2006/relationships" id="264" r:id="Reee249fe8c0d4c87"/>
    <p:sldId xmlns:r="http://schemas.openxmlformats.org/officeDocument/2006/relationships" id="265" r:id="Ra1271dc2c208448d"/>
    <p:sldId xmlns:r="http://schemas.openxmlformats.org/officeDocument/2006/relationships" id="266" r:id="R6e3d20812a314445"/>
    <p:sldId xmlns:r="http://schemas.openxmlformats.org/officeDocument/2006/relationships" id="267" r:id="Reaf674a187ac4fac"/>
    <p:sldId xmlns:r="http://schemas.openxmlformats.org/officeDocument/2006/relationships" id="268" r:id="Rdc6168076dc441cd"/>
    <p:sldId xmlns:r="http://schemas.openxmlformats.org/officeDocument/2006/relationships" id="269" r:id="R3b19cd0e08fe4791"/>
    <p:sldId xmlns:r="http://schemas.openxmlformats.org/officeDocument/2006/relationships" id="270" r:id="R3e43062422dc4b9a"/>
    <p:sldId xmlns:r="http://schemas.openxmlformats.org/officeDocument/2006/relationships" id="271" r:id="R0ae8de498ded4e23"/>
    <p:sldId xmlns:r="http://schemas.openxmlformats.org/officeDocument/2006/relationships" id="272" r:id="Rdf90e70bf1c044b2"/>
    <p:sldId xmlns:r="http://schemas.openxmlformats.org/officeDocument/2006/relationships" id="273" r:id="R9599dd050bf34e7c"/>
    <p:sldId xmlns:r="http://schemas.openxmlformats.org/officeDocument/2006/relationships" id="274" r:id="Re4f47f62da1841a9"/>
    <p:sldId xmlns:r="http://schemas.openxmlformats.org/officeDocument/2006/relationships" id="275" r:id="R8f5e205df7d54eac"/>
    <p:sldId xmlns:r="http://schemas.openxmlformats.org/officeDocument/2006/relationships" id="276" r:id="Rc242e16fd56146c4"/>
    <p:sldId xmlns:r="http://schemas.openxmlformats.org/officeDocument/2006/relationships" id="277" r:id="R38d00b7e588247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53ba45cad749e9" /><Relationship Type="http://schemas.openxmlformats.org/officeDocument/2006/relationships/slideMaster" Target="/ppt/slideMasters/slideMaster1.xml" Id="Rb049dac2a4cd480a" /><Relationship Type="http://schemas.openxmlformats.org/officeDocument/2006/relationships/notesMaster" Target="/ppt/notesMasters/notesMaster1.xml" Id="Ra3605955dbdb4a06" /><Relationship Type="http://schemas.openxmlformats.org/officeDocument/2006/relationships/presProps" Target="/ppt/presProps.xml" Id="R0794b1c995ba4e37" /><Relationship Type="http://schemas.openxmlformats.org/officeDocument/2006/relationships/tableStyles" Target="/ppt/tableStyles.xml" Id="R51837a4f754741e7" /><Relationship Type="http://schemas.openxmlformats.org/officeDocument/2006/relationships/slide" Target="/ppt/slides/slide1.xml" Id="R2cec727637f24447" /><Relationship Type="http://schemas.openxmlformats.org/officeDocument/2006/relationships/slide" Target="/ppt/slides/slide2.xml" Id="Rfcf33959ace04f87" /><Relationship Type="http://schemas.openxmlformats.org/officeDocument/2006/relationships/slide" Target="/ppt/slides/slide3.xml" Id="Rd2790eb1093c4c89" /><Relationship Type="http://schemas.openxmlformats.org/officeDocument/2006/relationships/slide" Target="/ppt/slides/slide4.xml" Id="Reba9b600978d4375" /><Relationship Type="http://schemas.openxmlformats.org/officeDocument/2006/relationships/slide" Target="/ppt/slides/slide5.xml" Id="R3d4b42003fe04e8e" /><Relationship Type="http://schemas.openxmlformats.org/officeDocument/2006/relationships/slide" Target="/ppt/slides/slide6.xml" Id="R96231fae6ec14de4" /><Relationship Type="http://schemas.openxmlformats.org/officeDocument/2006/relationships/slide" Target="/ppt/slides/slide7.xml" Id="Rd575494bac1d4d10" /><Relationship Type="http://schemas.openxmlformats.org/officeDocument/2006/relationships/slide" Target="/ppt/slides/slide8.xml" Id="R06e95e50f90b4721" /><Relationship Type="http://schemas.openxmlformats.org/officeDocument/2006/relationships/slide" Target="/ppt/slides/slide9.xml" Id="Reee249fe8c0d4c87" /><Relationship Type="http://schemas.openxmlformats.org/officeDocument/2006/relationships/slide" Target="/ppt/slides/slide10.xml" Id="Ra1271dc2c208448d" /><Relationship Type="http://schemas.openxmlformats.org/officeDocument/2006/relationships/slide" Target="/ppt/slides/slide11.xml" Id="R6e3d20812a314445" /><Relationship Type="http://schemas.openxmlformats.org/officeDocument/2006/relationships/slide" Target="/ppt/slides/slide12.xml" Id="Reaf674a187ac4fac" /><Relationship Type="http://schemas.openxmlformats.org/officeDocument/2006/relationships/slide" Target="/ppt/slides/slide13.xml" Id="Rdc6168076dc441cd" /><Relationship Type="http://schemas.openxmlformats.org/officeDocument/2006/relationships/slide" Target="/ppt/slides/slide14.xml" Id="R3b19cd0e08fe4791" /><Relationship Type="http://schemas.openxmlformats.org/officeDocument/2006/relationships/slide" Target="/ppt/slides/slide15.xml" Id="R3e43062422dc4b9a" /><Relationship Type="http://schemas.openxmlformats.org/officeDocument/2006/relationships/slide" Target="/ppt/slides/slide16.xml" Id="R0ae8de498ded4e23" /><Relationship Type="http://schemas.openxmlformats.org/officeDocument/2006/relationships/slide" Target="/ppt/slides/slide17.xml" Id="Rdf90e70bf1c044b2" /><Relationship Type="http://schemas.openxmlformats.org/officeDocument/2006/relationships/slide" Target="/ppt/slides/slide18.xml" Id="R9599dd050bf34e7c" /><Relationship Type="http://schemas.openxmlformats.org/officeDocument/2006/relationships/slide" Target="/ppt/slides/slide19.xml" Id="Re4f47f62da1841a9" /><Relationship Type="http://schemas.openxmlformats.org/officeDocument/2006/relationships/slide" Target="/ppt/slides/slide20.xml" Id="R8f5e205df7d54eac" /><Relationship Type="http://schemas.openxmlformats.org/officeDocument/2006/relationships/slide" Target="/ppt/slides/slide21.xml" Id="Rc242e16fd56146c4" /><Relationship Type="http://schemas.openxmlformats.org/officeDocument/2006/relationships/slide" Target="/ppt/slides/slide22.xml" Id="R38d00b7e5882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e78d14570ae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7f8067fa3a43b5" /><Relationship Type="http://schemas.openxmlformats.org/officeDocument/2006/relationships/notesMaster" Target="/ppt/notesMasters/notesMaster1.xml" Id="R353dc82efc614d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f195763be243e8" /><Relationship Type="http://schemas.openxmlformats.org/officeDocument/2006/relationships/notesMaster" Target="/ppt/notesMasters/notesMaster1.xml" Id="R98780e8067eb42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ead6f8e0884fc3" /><Relationship Type="http://schemas.openxmlformats.org/officeDocument/2006/relationships/notesMaster" Target="/ppt/notesMasters/notesMaster1.xml" Id="Rac7bd4070b9f446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040b2c28ce45df" /><Relationship Type="http://schemas.openxmlformats.org/officeDocument/2006/relationships/notesMaster" Target="/ppt/notesMasters/notesMaster1.xml" Id="R379357cb80444e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95be2128d84dcb" /><Relationship Type="http://schemas.openxmlformats.org/officeDocument/2006/relationships/notesMaster" Target="/ppt/notesMasters/notesMaster1.xml" Id="R95a70fc83fb04f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23dff18f054966" /><Relationship Type="http://schemas.openxmlformats.org/officeDocument/2006/relationships/notesMaster" Target="/ppt/notesMasters/notesMaster1.xml" Id="R17a538d661ab45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f864e91e404402" /><Relationship Type="http://schemas.openxmlformats.org/officeDocument/2006/relationships/notesMaster" Target="/ppt/notesMasters/notesMaster1.xml" Id="R17e940c2601941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f8467f2f6094219" /><Relationship Type="http://schemas.openxmlformats.org/officeDocument/2006/relationships/notesMaster" Target="/ppt/notesMasters/notesMaster1.xml" Id="Rdc5460d0637441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ea61c97e3ab4bed" /><Relationship Type="http://schemas.openxmlformats.org/officeDocument/2006/relationships/notesMaster" Target="/ppt/notesMasters/notesMaster1.xml" Id="Rb6b230dcbde946b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a115512b7d34e89" /><Relationship Type="http://schemas.openxmlformats.org/officeDocument/2006/relationships/notesMaster" Target="/ppt/notesMasters/notesMaster1.xml" Id="R768f72d54b2446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96ebf2fbb444a35" /><Relationship Type="http://schemas.openxmlformats.org/officeDocument/2006/relationships/notesMaster" Target="/ppt/notesMasters/notesMaster1.xml" Id="R225eb29f08244bb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2d348862f324678" /><Relationship Type="http://schemas.openxmlformats.org/officeDocument/2006/relationships/notesMaster" Target="/ppt/notesMasters/notesMaster1.xml" Id="Rd52d7c5697164de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b916e9203774c67" /><Relationship Type="http://schemas.openxmlformats.org/officeDocument/2006/relationships/notesMaster" Target="/ppt/notesMasters/notesMaster1.xml" Id="R391e4150d58c42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3e47b8959e0459b" /><Relationship Type="http://schemas.openxmlformats.org/officeDocument/2006/relationships/notesMaster" Target="/ppt/notesMasters/notesMaster1.xml" Id="Re8a68bd9a2fa4e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f8f458a3ca74817" /><Relationship Type="http://schemas.openxmlformats.org/officeDocument/2006/relationships/notesMaster" Target="/ppt/notesMasters/notesMaster1.xml" Id="R6e6669db43c6425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488c80572fe4d10" /><Relationship Type="http://schemas.openxmlformats.org/officeDocument/2006/relationships/notesMaster" Target="/ppt/notesMasters/notesMaster1.xml" Id="Rdc9e2f9abd0343f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4fcd51c2de4b03" /><Relationship Type="http://schemas.openxmlformats.org/officeDocument/2006/relationships/notesMaster" Target="/ppt/notesMasters/notesMaster1.xml" Id="R2dbc5e38f9c646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4b243193fa4860" /><Relationship Type="http://schemas.openxmlformats.org/officeDocument/2006/relationships/notesMaster" Target="/ppt/notesMasters/notesMaster1.xml" Id="R3a64813b488d448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be2a83295ad4508" /><Relationship Type="http://schemas.openxmlformats.org/officeDocument/2006/relationships/notesMaster" Target="/ppt/notesMasters/notesMaster1.xml" Id="Rad4c805602054d4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76518890a0f4063" /><Relationship Type="http://schemas.openxmlformats.org/officeDocument/2006/relationships/notesMaster" Target="/ppt/notesMasters/notesMaster1.xml" Id="R22e901c13f2940b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3174fab1716408d" /><Relationship Type="http://schemas.openxmlformats.org/officeDocument/2006/relationships/notesMaster" Target="/ppt/notesMasters/notesMaster1.xml" Id="Rc89a57de6c4246e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413b2c4b6c4e81" /><Relationship Type="http://schemas.openxmlformats.org/officeDocument/2006/relationships/notesMaster" Target="/ppt/notesMasters/notesMaster1.xml" Id="Re61b23912efe4c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팀원 이름은 발표자가 입력합니다. 기술 스택은 저장소의 requirements.txt, 프런트엔드 package.json 및 API 코드를 확인했습니다.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효과나 ROI는 현재 데이터로 측정하지 않았습니다. 캠페인 실험이 필요합니다.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CORE_COHORT_POLICY.md; CORE_SEGMENT_SCHEMA.md. 계정 탈퇴나 로그인 중단을 관측한 정답이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lol_churn_all_data/DATASET_SUMMARY.md. 500명당 6시간은 프로젝트 팀이 제공한 작업 경험치입니다. 수집 시드의 구체적 선정 방식은 확인하지 못해 슬라이드에 단정하지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lol_churn_all_data/DATASET_SUMMARY.md; models/core_churn_2026-08-01/RESULTS.md. 시퀀스 중복은 matchId 부재로 team_id+player_id+eventTime 대체 키를 사용했습니다.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lol_churn_all_data/derived/established_active_ml_2026-08-01.csv, 실제 집계. 유지 2,018명(84.75%), 중단 363명(15.25%). 전체 수집 9,879명과 다른 분모입니다.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established_active_ml_2026-08-01.csv를 churn별 평균으로 집계. 승률과 KDA는 중단자 쪽에서 낮지 않다. 평균 차이는 인과효과가 아니다.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lol_churn_all_data/database/CORE_SEGMENT_SCHEMA.md. 이 분류는 진성 고객군 선정 규칙과 별개입니다.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established_active_ml_2026-08-01.csv, models/core_churn_2026-08-01/RESULTS.md.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models/core_churn_2026-08-01/RESULTS.md. 최종 후보는 기준일 이전 집계 피처 33개이며, 시퀀스 파생 13개는 비교 실험용입니다.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models/active_users_comparison_2026-08-01/RESULTS.md, boosting_comparison_2026-08-01/RESULTS.md, active_catboost_tuning_2026-08-01/RESULTS.md. 서로 다른 대상·분할이라 현재 2,381명 AP와 직접 비교 불가.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TRANSFORMER_EXPERIMENTS.md, models/core_clusters_2026-08-01/RESULTS.md, models/synthetic_survival_2026-08-01/RESULTS.md. Transformer와 CatBoost의 AP는 과거 대상군 기록이며 현재 핵심 대상군 AP와 직접 비교 금지.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models/core_churn_2026-08-01/RESULTS.md. 2,381명 5-fold Stratified out-of-fold. 두 모델 모두 class weight/ROS/튜닝 없음.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models/core_imbalance_2026-08-01/RESULTS.md. 해당 실험의 무처리 AP 0.398은 fold-median imputation 차이로 메인 결과 0.397과 정확히 동일한 재현이 아님. 오버샘플링은 학습 fold에만 적용. 상위 20% 캠페인에서는 무처리 성능이 가장 좋음.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지표 정의는 scikit-learn의 average precision, ROC-AUC, precision/recall/F1 및 모델 실험 파일과 일치. 현재는 동일 기준일의 5-fold OOF이며 미래 시점 성능은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models/core_churn_2026-08-01/RESULTS.md. 2,381명 5-fold OoF. 저장 모델은 전체 데이터로 재적합한 후보이며 운영 배포 검증이 아님. 점수는 보정된 확률로 해석하면 안 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models/core_churn_2026-08-01/RESULTS.md. 별도 모델 2개가 아닌 하나의 공통 모델 예측을 그룹별로 나눈 평가. 그룹의 정답 비율이 달라 AP 단순 비교는 주의.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established_active_ml_2026-08-01.csv 직접 집계, models/core_churn_2026-08-01/RESULTS.md. 실제 SHAP 값을 계산한 현재 코호트 보고서가 없어 SHAP 수치를 만들지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발표자가 실제 React 화면 캡처를 이 슬라이드에 삽입하거나 라이브 시연합니다. 현재 저장소의 merged-app은 React/TypeScript 프런트엔드와 FastAPI 백엔드입니다.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models/core_churn_2026-08-01/RESULTS.md, core_imbalance_2026-08-01/RESULTS.md.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DATASET_SUMMARY.md, models/core_churn_2026-08-01/RESULTS.md. API 시간은 사용자 제공 사실. 합성 생존분석 수치는 실제 이탈 방지 성과가 아닙니다.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64bf945edc42b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0ede347bed4681" /><Relationship Type="http://schemas.openxmlformats.org/officeDocument/2006/relationships/slideLayout" Target="/ppt/slideLayouts/slideLayout1.xml" Id="Rb0d22f026b984d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0d22f026b984d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690d08898474c" /><Relationship Type="http://schemas.openxmlformats.org/officeDocument/2006/relationships/notesSlide" Target="/ppt/notesSlides/notesSlide1.xml" Id="R6f8e346336eb4e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aea42523847d5" /><Relationship Type="http://schemas.openxmlformats.org/officeDocument/2006/relationships/notesSlide" Target="/ppt/notesSlides/notesSlide2.xml" Id="R4244046736b747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00909a63c14b1b" /><Relationship Type="http://schemas.openxmlformats.org/officeDocument/2006/relationships/notesSlide" Target="/ppt/notesSlides/notesSlide3.xml" Id="R07225539848b4f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c3a69ee5448d5" /><Relationship Type="http://schemas.openxmlformats.org/officeDocument/2006/relationships/notesSlide" Target="/ppt/notesSlides/notesSlide4.xml" Id="R6e3fdde141ed40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7d7bea3234111" /><Relationship Type="http://schemas.openxmlformats.org/officeDocument/2006/relationships/notesSlide" Target="/ppt/notesSlides/notesSlide5.xml" Id="Rd52cd07f201a4b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1e12092cb45ce" /><Relationship Type="http://schemas.openxmlformats.org/officeDocument/2006/relationships/notesSlide" Target="/ppt/notesSlides/notesSlide6.xml" Id="Re7d042af734f4e1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3f1231a534266" /><Relationship Type="http://schemas.openxmlformats.org/officeDocument/2006/relationships/notesSlide" Target="/ppt/notesSlides/notesSlide7.xml" Id="R326e84484f5c46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cd13b3ce50488a" /><Relationship Type="http://schemas.openxmlformats.org/officeDocument/2006/relationships/notesSlide" Target="/ppt/notesSlides/notesSlide8.xml" Id="R34f2f561d1f346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6926df0a54ca9" /><Relationship Type="http://schemas.openxmlformats.org/officeDocument/2006/relationships/notesSlide" Target="/ppt/notesSlides/notesSlide9.xml" Id="R308e7179f9ee4f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44d816c2b47d5" /><Relationship Type="http://schemas.openxmlformats.org/officeDocument/2006/relationships/notesSlide" Target="/ppt/notesSlides/notesSlide10.xml" Id="R029a1f9656ad41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d6d7b5b3d4748" /><Relationship Type="http://schemas.openxmlformats.org/officeDocument/2006/relationships/notesSlide" Target="/ppt/notesSlides/notesSlide11.xml" Id="R9b10d0f7b01046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44e9f0d0ed4aef" /><Relationship Type="http://schemas.openxmlformats.org/officeDocument/2006/relationships/notesSlide" Target="/ppt/notesSlides/notesSlide12.xml" Id="R1451c05fdac247c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c9a5875634ac7" /><Relationship Type="http://schemas.openxmlformats.org/officeDocument/2006/relationships/notesSlide" Target="/ppt/notesSlides/notesSlide13.xml" Id="Rf02e0cef71a245a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fcb9716ff4166" /><Relationship Type="http://schemas.openxmlformats.org/officeDocument/2006/relationships/notesSlide" Target="/ppt/notesSlides/notesSlide14.xml" Id="R92d6c5d4144a469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d0f82cb49a4b0c" /><Relationship Type="http://schemas.openxmlformats.org/officeDocument/2006/relationships/notesSlide" Target="/ppt/notesSlides/notesSlide15.xml" Id="R56842952b00543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8a1fa3d724767" /><Relationship Type="http://schemas.openxmlformats.org/officeDocument/2006/relationships/notesSlide" Target="/ppt/notesSlides/notesSlide16.xml" Id="Rebdc711e00be40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c69ab312704ad9" /><Relationship Type="http://schemas.openxmlformats.org/officeDocument/2006/relationships/notesSlide" Target="/ppt/notesSlides/notesSlide17.xml" Id="R68e4b028778b43c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223598df3408b" /><Relationship Type="http://schemas.openxmlformats.org/officeDocument/2006/relationships/notesSlide" Target="/ppt/notesSlides/notesSlide18.xml" Id="R2c6711db069547b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957947f0f74027" /><Relationship Type="http://schemas.openxmlformats.org/officeDocument/2006/relationships/notesSlide" Target="/ppt/notesSlides/notesSlide19.xml" Id="Rcfac51331746498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5fd5fd51d408f" /><Relationship Type="http://schemas.openxmlformats.org/officeDocument/2006/relationships/notesSlide" Target="/ppt/notesSlides/notesSlide20.xml" Id="R20eede36a70048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9401c59394424e" /><Relationship Type="http://schemas.openxmlformats.org/officeDocument/2006/relationships/notesSlide" Target="/ppt/notesSlides/notesSlide21.xml" Id="Rbb93ca69ef5845f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3652808a24692" /><Relationship Type="http://schemas.openxmlformats.org/officeDocument/2006/relationships/notesSlide" Target="/ppt/notesSlides/notesSlide22.xml" Id="R46f258349c494d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C4ECBD-E61F-4A6F-844B-111B4110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LoL 경기 기록 기반 사용자 이탈 예측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D2C8A-9A5B-4481-8910-B5B1EB6C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1. 프로젝트 소개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780BE-1572-4AE5-AED4-CB9D10D60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696DBE-19F1-4E79-964F-0B9D61D5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6687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프로젝트명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02047-8186-4E10-AD85-7E4CB980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240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LoL 사용자 이탈 예측 및 행동 분석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336C22-915D-47BF-B9F0-5289A291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팀원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50A04C-401F-430B-B066-8ED077C9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25CB14-2383-4FD3-B2B6-ADBF91494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244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Riot API  ·  Python / SQLite  ·  CatBoost  ·  FastAPI  ·  React / TypeScript</a:t>
            </a:r>
          </a:p>
        </p:txBody>
      </p:sp>
    </p:spTree>
    <p:extLst>
      <p:ext uri="{BB962C8B-B14F-4D97-AF65-F5344CB8AC3E}">
        <p14:creationId xmlns:p14="http://schemas.microsoft.com/office/powerpoint/2010/main" val="12353034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B0640-D86F-42D1-B264-F22BE35D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게임 서비스에서 이탈 관리가 중요한 이유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D3D2E5-70B1-46DA-980D-D3EC39F6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2. 주제 선정 배경 및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E5099-173B-46A9-99FE-3362EC0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B307B-4882-4296-B58E-9CDADA02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접속이 끊긴 뒤보다, 활동이 줄기 시작할 때 대응할 여지가 큽니다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272ACF-1A36-4569-9B4C-1AEA6ECC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경기 간격과 빈도 변화를 이용해 위험 고객을 먼저 찾습니다.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E0746F-F46C-42F1-863D-0D4C579C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리텐션 예산은 한정돼 있습니다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0C29C-01E1-4A18-B19E-42D975E6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모든 사용자에게 같은 보상을 주기보다 검토 대상을 좁힐 필요가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5116491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8CC99E-0A04-4DD1-B71D-107935C5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이번 프로젝트의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999E5-9946-42E4-B1BA-2B9B6F425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2. 주제 선정 배경 및 문제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6DD228-9343-44B8-9BA2-5E3A1EC1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118E00-F674-4C92-A5EE-88DE6FC3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앞으로 30일간 경기 기록이 끊길 사용자를 우선순위로 정리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1CC5E-835A-46F3-8DBD-11C0AFC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상위 10%와 20%에서 실제 중단자를 얼마나 찾는지 확인합니다.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71B26-973E-4E6A-8615-6E0D3EF0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플레이 유형과 행동 변화를 함께 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37B68-0EC5-4072-BC92-F9D1302C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위험 점수는 개입 후보 선정을 돕는 도구이며 개입 효과는 별도 검증 대상입니다.</a:t>
            </a:r>
          </a:p>
        </p:txBody>
      </p:sp>
    </p:spTree>
    <p:extLst>
      <p:ext uri="{BB962C8B-B14F-4D97-AF65-F5344CB8AC3E}">
        <p14:creationId xmlns:p14="http://schemas.microsoft.com/office/powerpoint/2010/main" val="43688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144CC-B718-48B7-A4B1-AA8C3764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대상과 정답의 정의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E1C801-1C04-480D-B119-1E379A141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3. 이탈 기준 및 분석 대상 정의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2466ED-ACEB-46A4-A51A-4C3143DC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905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143125"/>
                <a:gridCol w="8591550"/>
              </a:tblGrid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프로젝트 기준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2026년 8월 1일 00:00 UTC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6월 2일~7월 1일 4경기 이상, 7월 2일~7월 31일 1경기 이상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8월 1일부터 30일간 모든 게임 모드에서 경기 기록 없음 = 중단(1)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경기 이력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모델용 사용자 집계와 사용자별 최근 최대 30경기 시퀀스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모드 범위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정답은 모든 모드 기준. 입력에는 솔로·자유랭크, 일반, 칼바람 등 모드 비중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7CA16-35FD-4C42-8394-6F059F4D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02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이 기준은 활동 이력으로 정한 잠정 고객군입니다. 봇·악성 이용자 판별 기준이 아닙니다.</a:t>
            </a:r>
          </a:p>
        </p:txBody>
      </p:sp>
    </p:spTree>
    <p:extLst>
      <p:ext uri="{BB962C8B-B14F-4D97-AF65-F5344CB8AC3E}">
        <p14:creationId xmlns:p14="http://schemas.microsoft.com/office/powerpoint/2010/main" val="19771485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247102-C99D-448B-A684-4BCA415CF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Riot API 경기 이력 수집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B9EA0-FC1F-4C32-9DD1-8D876791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4. 데이터 수집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FDFD4-0E5F-461C-BBF8-FD06CC13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2E5D3E-B7AC-4AB2-BC74-AA14D904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21개 배치를 병합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A300E-0B8F-4FA0-BCA8-CBA69BA8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사용자 9,879명, 경기 270,181건으로 최종 정리했습니다.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24F64-6858-47B6-A4F9-212F34E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사용자별 최근 최대 30경기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068B3-41BD-45E8-BA12-023991B5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원본 경기의 전체 생애 이력은 아닙니다.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79EE4-E704-43EF-93FD-56694060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API 호출 시간이 수집 규모를 제한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8B7AB8-EE9A-489A-A80E-0CC1AD8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2922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30경기씩 수집할 때 500명당 약 6시간이 걸렸습니다.</a:t>
            </a:r>
          </a:p>
        </p:txBody>
      </p:sp>
    </p:spTree>
    <p:extLst>
      <p:ext uri="{BB962C8B-B14F-4D97-AF65-F5344CB8AC3E}">
        <p14:creationId xmlns:p14="http://schemas.microsoft.com/office/powerpoint/2010/main" val="5740417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861E2D-E68B-4C6D-AC87-A5B474F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데이터 병합과 전처리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63E2-3667-4B4D-8528-CD9C5782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5. 데이터 전처리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90854E-A7C4-417D-A1AE-7B3DAD24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98EF6-0FC6-454A-B801-AD5B73FC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배치 간 중복 제거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086F98-6D7B-44A7-9DB3-82085E77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ML 사용자 행 9,904 → 9,879명, 경기 행 270,891 → 270,181건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6FB05-26E1-4C98-BFB7-4B10FC42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사용자·경기 단위 분리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AD0F1D-B55B-4412-8719-9B2D3EEA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사용자 집계 테이블 1행/인, 시퀀스 테이블 1행/경기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1EB29-42A1-4F13-9CB3-DB5F2C6DE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기준일 전 정보만 모델 입력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0C645B-3F0D-4D85-9400-C6D28E18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2922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future30d_has_match와 정답, 사용자 ID, 배치 정보는 입력에서 제외</a:t>
            </a:r>
          </a:p>
        </p:txBody>
      </p:sp>
    </p:spTree>
    <p:extLst>
      <p:ext uri="{BB962C8B-B14F-4D97-AF65-F5344CB8AC3E}">
        <p14:creationId xmlns:p14="http://schemas.microsoft.com/office/powerpoint/2010/main" val="15459412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AB24-0971-44EF-BCCC-7FBFE77B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분석 대상 2,381명 중 363명이 경기 중단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2A7E61-75D4-491D-AD2D-509EC6D0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6. EDA 및 사용자 행동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C077D-97F6-4810-82F2-A6237C22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240982-1895-42B8-9C72-C59CC648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2,381명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D007D5-40C2-4E5B-90FB-99F735AC2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78130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잠정 활동 고객군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8F5B4-B321-47AD-9BAA-FBDAD1D2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8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363명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9037E-C7FC-420E-8F79-4B3F48C0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7813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이후 30일 경기 중단  15.25%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1418E8-0AB8-41F3-99EF-EA15092F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유지 2,018명  ·  중단 363명</a:t>
            </a:r>
          </a:p>
        </p:txBody>
      </p:sp>
    </p:spTree>
    <p:extLst>
      <p:ext uri="{BB962C8B-B14F-4D97-AF65-F5344CB8AC3E}">
        <p14:creationId xmlns:p14="http://schemas.microsoft.com/office/powerpoint/2010/main" val="17685171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263F1-EF0A-4EAE-AED8-88B62367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중단자와 유지자의 경기 행동 차이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A2978-7277-46F9-B8C0-D92C0AA3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6. EDA 및 사용자 행동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4E8B0-5738-40BA-924D-588379039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714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476750"/>
                <a:gridCol w="3143250"/>
                <a:gridCol w="3114675"/>
              </a:tblGrid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기준일 이전 지표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유지 2,018명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 363명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30일 경기 수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17.1경기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9.8경기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7일 경기 수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5.6경기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1.2경기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경기 후 경과일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6.3일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14.2일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20경기 승률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20경기 KDA 평균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4BE58-0C65-49F4-8CF0-6CAB58FC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9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이 표에서는 활동량과 최근 공백의 차이가 크고, 승률·KDA의 차이는 작습니다.</a:t>
            </a:r>
          </a:p>
        </p:txBody>
      </p:sp>
    </p:spTree>
    <p:extLst>
      <p:ext uri="{BB962C8B-B14F-4D97-AF65-F5344CB8AC3E}">
        <p14:creationId xmlns:p14="http://schemas.microsoft.com/office/powerpoint/2010/main" val="2093520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E8E55-FC1A-48FB-ABF2-66BAE020F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플레이 유형은 대상 선별 이후에 분류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71B71-A875-4059-99AA-3DDA7FC8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6. EDA 및 사용자 행동 분석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3167B-3315-4591-901B-B51CBF81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3337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476625"/>
                <a:gridCol w="1619250"/>
                <a:gridCol w="5638800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규칙 기반 플레이 유형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솔로랭크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1,026명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30일 5경기 이상, 솔로랭크 비중 60% 이상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캐주얼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254명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일반·칼바람 등 캐주얼 모드 비중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혼합·기타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727명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한 모드에 집중하지 않는 사용자 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판정용 경기 부족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374명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30일 5경기 미만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D215A-A29F-424A-AB5E-82C03510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군집화 탐색도 수행했으나 대상 선별에는 사용하지 않았습니다.</a:t>
            </a:r>
          </a:p>
        </p:txBody>
      </p:sp>
    </p:spTree>
    <p:extLst>
      <p:ext uri="{BB962C8B-B14F-4D97-AF65-F5344CB8AC3E}">
        <p14:creationId xmlns:p14="http://schemas.microsoft.com/office/powerpoint/2010/main" val="15916568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A6E67-21F4-4075-A916-EBDD746C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최근 행동 변화를 파생변수로 만들었습니다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071CE-7364-4B78-8997-FF34B44F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7. 파생변수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A3C519-52F0-4B64-A86C-607B0833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FDF728-190F-4069-BE5F-AEB69295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활동 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10FB9D-7959-4305-B30F-32125794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최근 30일 경기 수 − 이전 30일 경기 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26368A-9C7D-4B6F-AEDD-F353099D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경기 간격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46CB7-9F4F-4034-A41F-5BDBE0B4A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평균·최대 간격, 마지막 경기 공백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F4ACD-E844-434E-AC6A-7FF754F3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경기 경험 변화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4565-9CA4-4EF7-A714-C37FD9CA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2922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최근 승률·KDA, 연패 길이, 챔피언·모드 다양성</a:t>
            </a:r>
          </a:p>
        </p:txBody>
      </p:sp>
    </p:spTree>
    <p:extLst>
      <p:ext uri="{BB962C8B-B14F-4D97-AF65-F5344CB8AC3E}">
        <p14:creationId xmlns:p14="http://schemas.microsoft.com/office/powerpoint/2010/main" val="16585588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D872F-1E63-43B8-95E6-987ECFD1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모델 입력 피처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500CA3-3062-4527-9983-32504FA4E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8. 피처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68D7D-028F-487C-822D-BF19176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8100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476500"/>
                <a:gridCol w="8258175"/>
              </a:tblGrid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입력 묶음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대표 변수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7·30·90일 경기 수, 활동 일수, 직전 30일 경기 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간격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마지막 경기 경과일, 평균·최대 경기 간격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성과·경험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20경기 승률, KDA, 연패 수, 게임 길이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플레이 취향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솔로·자유랭크, 일반, 칼바람 등 모드 비중과 챔피언 다양성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비교 실험용 추가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최대 30경기에서 승패·KDA·연승/연패 등 13개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93F8D-0167-4A1E-990A-1D601E5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149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최종 후보는 기준일 이전 집계 피처 33개를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8510981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8FC66-C557-4854-B96E-AAE30F29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모델링 실험 기록 ①  과거 대상군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2E0C1-EB06-4B59-9DA0-3038ECC6D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9. 모델링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2F04E-5A1D-46B3-A765-B4071BAF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28098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619375"/>
                <a:gridCol w="3810000"/>
                <a:gridCol w="4305300"/>
              </a:tblGrid>
              <a:tr h="70246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대상·목적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기록된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활동 사용자 7,806명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CatBoost·XGBoost·LightGBM, 33/15피처, 불균형 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CatBoost 15피처 무가중치 AP 0.364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8,397명 분할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Boosting 후보 12조합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XGBoost 가중치 15피처 AP 0.544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2469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활동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CatBoost 깊이·L2 튜닝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소폭 차이, 현재 후보에 미적용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90763-5C7B-4781-8A8B-2DCDE3312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1485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과거 실험은 모집단과 검증 설계가 달라 현재 모델과 성능 우열을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208547592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DABB7-1DBB-4C74-967D-7F6FEFAE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모델링 실험 기록 ②  시퀀스와 생존분석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D22F9-5745-44AE-92FC-C7E7C14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9. 모델링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A1034-00A5-4EE4-86CE-87EA347CC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40005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714750"/>
                <a:gridCol w="3524250"/>
                <a:gridCol w="3495675"/>
              </a:tblGrid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주요 결과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판단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Transformer 30일 중단 분류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과거 대상군 AP 0.236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CatBoost보다 낮아 채택 안 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Transformer 다음 행동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모드 90.3% vs 직전 모드 반복 90.9%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기준선보다 이득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Transformer 다음 경기 간격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 1.095일 vs 중앙값 0.993일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단순 기준선보다 이득 없음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KMeans 행동 유형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5군집, silhouette 0.180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탐색용, 대상 선별에 미사용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Cox 생존분석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합성 데이터 concordance 0.762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사용자 성능 아님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354137-80CE-42DB-A7D7-5E5EE45DD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054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생존분석 화면은 합성 데이터 실험으로 분리해 표시합니다.</a:t>
            </a:r>
          </a:p>
        </p:txBody>
      </p:sp>
    </p:spTree>
    <p:extLst>
      <p:ext uri="{BB962C8B-B14F-4D97-AF65-F5344CB8AC3E}">
        <p14:creationId xmlns:p14="http://schemas.microsoft.com/office/powerpoint/2010/main" val="21120267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8369D-DEAB-485B-A3C8-0D82155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대상군의 CatBoost 비교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02A03-0DCC-40A1-93D4-A3B1B6648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9. 모델링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E900F7-4279-404C-93D7-FC99C493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2333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667250"/>
                <a:gridCol w="1352550"/>
                <a:gridCol w="1476375"/>
                <a:gridCol w="1619250"/>
                <a:gridCol w="1619250"/>
              </a:tblGrid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F1@20%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집계 피처 33개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0.7831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집계 33개 + 경기 시퀀스 파생 13개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0.3977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0.7849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0.448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D88FA2-EFE3-4CFC-8E7A-7F099ECB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시퀀스 피처의 전체 AP 증가는 0.0007입니다. 상위 20% Recall은 소폭 낮아졌습니다.</a:t>
            </a:r>
          </a:p>
        </p:txBody>
      </p:sp>
    </p:spTree>
    <p:extLst>
      <p:ext uri="{BB962C8B-B14F-4D97-AF65-F5344CB8AC3E}">
        <p14:creationId xmlns:p14="http://schemas.microsoft.com/office/powerpoint/2010/main" val="1891017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01DB1C-5015-46CF-9A4A-06C05F1A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불균형 처리 실험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B4BD4-AC29-4B65-93E4-66BD3592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9. 모델링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5B658-50D9-4D9F-B2ED-E76D6CA4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857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1219200"/>
                <a:gridCol w="1666875"/>
                <a:gridCol w="1666875"/>
                <a:gridCol w="1666875"/>
                <a:gridCol w="1657350"/>
              </a:tblGrid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방법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Precision@10%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Precision@20%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무처리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49.0%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Class weight 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39.2%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Class weight balanced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50.2%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51.0%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38.8%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38.4%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SMOTE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47.7%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13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E52999-9F3C-4265-AF4F-17B9C9AD0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Class weight의 AP는 조금 높지만 상위 20% 발견율은 무처리보다 낮았습니다.</a:t>
            </a:r>
          </a:p>
        </p:txBody>
      </p:sp>
    </p:spTree>
    <p:extLst>
      <p:ext uri="{BB962C8B-B14F-4D97-AF65-F5344CB8AC3E}">
        <p14:creationId xmlns:p14="http://schemas.microsoft.com/office/powerpoint/2010/main" val="135119557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80CFA-E302-41C7-935B-0C5D7B95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평가 지표는 캠페인 규모와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375DF-9448-4F2E-BA45-5855930B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10. 모델 평가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09A74A-A939-432D-B0A7-B38A409A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376237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3048000"/>
                <a:gridCol w="7686675"/>
              </a:tblGrid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지표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발표에서 보는 질문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PR-AUC(AP)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위험 점수 순위 전반에서 중단자를 위에 올리는가?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중단자와 유지자의 순위를 전반적으로 구분하는가?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Precision@10/20%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선정한 사용자 중 실제 중단자는 몇 명인가?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Recall@10/20%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중단자 중 선정 범위에서 몇 명을 찾았는가?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7063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F1@10/20%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88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정밀도와 재현율의 균형은 어떤가?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080949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AEB267-ECAC-4E0F-8188-C27A9AC2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최종 후보: CatBoost 집계 피처 모델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32ED16-C695-4410-AC8A-1EFB7744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11. 최종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98775-2F7D-4605-A68A-8EC4CA8A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91DF37-EAA9-489F-BBDC-91DA70FF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52600"/>
            <a:ext cx="5048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AP 0.397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DB637-47F2-43DB-8DA0-B3BD602E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5260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427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ROC-AUC 0.783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B917DD-AB1E-4C18-B3FC-90C4E186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10572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상위 20% 477명 중 189명 중단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E7746-3C2E-4180-93F7-F1184239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4340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Precision 39.6%     Recall 52.1%     F1 0.450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99CCB-12DF-4991-B863-2F923EEA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00675"/>
            <a:ext cx="1028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클래스 가중치·ROS·SMOTE 미사용</a:t>
            </a:r>
          </a:p>
        </p:txBody>
      </p:sp>
    </p:spTree>
    <p:extLst>
      <p:ext uri="{BB962C8B-B14F-4D97-AF65-F5344CB8AC3E}">
        <p14:creationId xmlns:p14="http://schemas.microsoft.com/office/powerpoint/2010/main" val="106684488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BCF26-D896-4554-89F4-6FD6596D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플레이 유형별 검증 성능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28C1C8-5B3E-439C-8065-46DC1255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11. 최종 모델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0EAE6-A94A-44E7-B055-46EED8F5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33425" y="1571625"/>
          <a:ext xmlns:a="http://schemas.openxmlformats.org/drawingml/2006/main" cx="10734675" cy="2333625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4191000"/>
                <a:gridCol w="1924050"/>
                <a:gridCol w="1476375"/>
                <a:gridCol w="1619250"/>
                <a:gridCol w="1524000"/>
              </a:tblGrid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공통 모델의 하위 그룹 평가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인원 / 중단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1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Recall@20%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솔로랭크 중심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1,026 / 139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48.9%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77875"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외 게임 사용자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1,355 / 224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0.801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425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AB4C3-8D10-473B-93E9-1178C55B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그 외 그룹에는 자유랭크, 일반, 칼바람, 최근 경기 부족 사용자가 함께 포함됩니다.</a:t>
            </a:r>
          </a:p>
        </p:txBody>
      </p:sp>
    </p:spTree>
    <p:extLst>
      <p:ext uri="{BB962C8B-B14F-4D97-AF65-F5344CB8AC3E}">
        <p14:creationId xmlns:p14="http://schemas.microsoft.com/office/powerpoint/2010/main" val="1732191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57F18-32A3-4562-A97F-D0E13687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점수를 해석할 때 확인할 행동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759D5-C394-490A-A3CB-128724C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12. 모델 해석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3C357-6FAE-4020-BC5A-28511509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EAF55-FB44-4DDF-BAE4-34C14D34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최근 플레이 빈도와 경기 공백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B9ADC-9E28-4136-8647-4154CA07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중단 그룹은 최근 30일 경기 수가 적고 마지막 경기 공백이 길었습니다.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9D41A-BB3A-46C9-A21D-F374F86E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승패·KDA는 이번 표본에서 강한 차이를 보이지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04898-715D-4EF5-B220-4F795FB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시퀀스 파생변수를 추가해도 전체 순위 성능은 거의 바뀌지 않았습니다.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6F26F-41E4-4E2F-85AE-0F15F4B1D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위험 점수는 우선순위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A2017-2426-4CEA-BD4B-9622FACC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2922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개별 사용자에 대한 원인 판정이나 보상 효과 증명으로 쓰지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65639179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9B7ED-12EA-41A8-B827-892568A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웹 대시보드 시연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AFA073-9719-4FD9-BDB2-405FC92E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13. 웹 대시보드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D087D2-CE5E-411B-B72D-CB957B29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4E1B9-0489-45EC-99F3-371EE576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47825"/>
            <a:ext cx="104775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37C4B-4ED8-4230-A3EC-3D7C35AE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81625"/>
            <a:ext cx="10287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발표 화면 또는 라이브 시연 위치</a:t>
            </a:r>
          </a:p>
        </p:txBody>
      </p:sp>
    </p:spTree>
    <p:extLst>
      <p:ext uri="{BB962C8B-B14F-4D97-AF65-F5344CB8AC3E}">
        <p14:creationId xmlns:p14="http://schemas.microsoft.com/office/powerpoint/2010/main" val="10309448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26FE1A-D77A-4DA8-B2A8-CC3CE632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EEEADC-3B62-404F-AFDC-2B6E8A5C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14. 결과 및 한계점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4A9D9-94F0-4509-9F9B-DF854FC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78FA4B-572B-45FA-834B-9EAC768C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상위 20% 검토 대상으로 중단자 52.1%를 포착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D7348-E5B3-4CCF-B703-4B08070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477명을 검토하면 실제 30일 경기 중단자 189명이 포함됩니다.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72843-A063-4C12-A712-C36AA8D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경기 시퀀스 추가·불균형 처리는 채택하지 않음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E2BB49-F10C-4B59-A1F9-EE026533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현재 검증 조건에서는 집계 피처 CatBoost가 단순하고 실용적인 후보입니다.</a:t>
            </a:r>
          </a:p>
        </p:txBody>
      </p:sp>
    </p:spTree>
    <p:extLst>
      <p:ext uri="{BB962C8B-B14F-4D97-AF65-F5344CB8AC3E}">
        <p14:creationId xmlns:p14="http://schemas.microsoft.com/office/powerpoint/2010/main" val="162880294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ED01E9-07E0-4E4E-A101-52F41DC2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"/>
            <a:ext cx="10763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한계와 다음 검증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7D527-EB6B-4FFA-8D27-A1EB8759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143625"/>
            <a:ext cx="94773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14. 결과 및 한계점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F562D-D1FE-4502-8E2C-B7CEA662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6143625"/>
            <a:ext cx="571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A9648-456F-4D74-8CC2-078767DC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한 기준일의 교차검증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1DF7E7-BF65-4DBB-9319-17A695E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231457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다음 달·다른 시즌의 시간외 검증과 점수 보정이 필요합니다.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F81150-2AB8-49CE-9487-8541E764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194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관측 범위의 제약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3060D1-17FC-439E-93BA-2DFFBDC5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771900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사용자별 최대 30경기, API 수집에 500명당 약 6시간이 들었습니다.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9A18A-F6F8-41DC-9B0D-CFAD5DB30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76775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11111"/>
                </a:solidFill>
                <a:latin typeface="Malgun Gothic"/>
                <a:ea typeface="Malgun Gothic"/>
                <a:cs typeface="Malgun Gothic"/>
              </a:rPr>
              <a:t>개입 효과는 아직 미측정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3707C-4737-447B-BFAA-A5C666E41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5229225"/>
            <a:ext cx="103155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4A4A4A"/>
                </a:solidFill>
                <a:latin typeface="Malgun Gothic"/>
                <a:ea typeface="Malgun Gothic"/>
                <a:cs typeface="Malgun Gothic"/>
              </a:rPr>
              <a:t>보상·알림은 A/B 실험으로 유지율과 비용을 비교해야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1399391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2026-09-28T08:25:47.4270000Z</dcterms:created>
  <dcterms:modified xsi:type="dcterms:W3CDTF">2026-09-28T08:25:47.4270000Z</dcterms:modified>
</coreProperties>
</file>