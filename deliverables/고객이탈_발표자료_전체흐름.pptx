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c79eb115ec4471" /><Relationship Type="http://schemas.openxmlformats.org/officeDocument/2006/relationships/extended-properties" Target="/docProps/app.xml" Id="R3b8d6c9423154ae2" /><Relationship Type="http://schemas.openxmlformats.org/officeDocument/2006/relationships/officeDocument" Target="/ppt/presentation.xml" Id="Rc129af4cdc1147d0" /></Relationships>
</file>

<file path=ppt/presentation.xml><?xml version="1.0" encoding="utf-8"?>
<p:presentation xmlns:p="http://schemas.openxmlformats.org/presentationml/2006/main">
  <p:sldMasterIdLst>
    <p:sldMasterId xmlns:r="http://schemas.openxmlformats.org/officeDocument/2006/relationships" id="2147483648" r:id="Rca1d540da9a24708"/>
  </p:sldMasterIdLst>
  <p:notesMasterIdLst>
    <p:notesMasterId xmlns:r="http://schemas.openxmlformats.org/officeDocument/2006/relationships" r:id="R24e44fddee354f4d"/>
  </p:notesMasterIdLst>
  <p:sldIdLst>
    <p:sldId xmlns:r="http://schemas.openxmlformats.org/officeDocument/2006/relationships" id="256" r:id="R29b2c2488659419f"/>
    <p:sldId xmlns:r="http://schemas.openxmlformats.org/officeDocument/2006/relationships" id="257" r:id="R51b438e0aba24245"/>
    <p:sldId xmlns:r="http://schemas.openxmlformats.org/officeDocument/2006/relationships" id="258" r:id="R2eb0b3b0cbce4f2e"/>
    <p:sldId xmlns:r="http://schemas.openxmlformats.org/officeDocument/2006/relationships" id="259" r:id="Rb6e7c4a20d9e4a67"/>
    <p:sldId xmlns:r="http://schemas.openxmlformats.org/officeDocument/2006/relationships" id="260" r:id="Rae5f7773830b44a3"/>
    <p:sldId xmlns:r="http://schemas.openxmlformats.org/officeDocument/2006/relationships" id="261" r:id="Rae4b136deceb4767"/>
    <p:sldId xmlns:r="http://schemas.openxmlformats.org/officeDocument/2006/relationships" id="262" r:id="R1110f43987524806"/>
    <p:sldId xmlns:r="http://schemas.openxmlformats.org/officeDocument/2006/relationships" id="263" r:id="R4fc0ad7d606040c9"/>
    <p:sldId xmlns:r="http://schemas.openxmlformats.org/officeDocument/2006/relationships" id="264" r:id="R1bffd7c41dac402b"/>
    <p:sldId xmlns:r="http://schemas.openxmlformats.org/officeDocument/2006/relationships" id="265" r:id="R46a5f2af9b634798"/>
    <p:sldId xmlns:r="http://schemas.openxmlformats.org/officeDocument/2006/relationships" id="266" r:id="Rc111bb281999440b"/>
    <p:sldId xmlns:r="http://schemas.openxmlformats.org/officeDocument/2006/relationships" id="267" r:id="R6ef52da0436345a2"/>
    <p:sldId xmlns:r="http://schemas.openxmlformats.org/officeDocument/2006/relationships" id="268" r:id="Re6b05c1bd4cd43c1"/>
    <p:sldId xmlns:r="http://schemas.openxmlformats.org/officeDocument/2006/relationships" id="269" r:id="Rbec5816f351c47ed"/>
    <p:sldId xmlns:r="http://schemas.openxmlformats.org/officeDocument/2006/relationships" id="270" r:id="R8763dade2f574ae1"/>
    <p:sldId xmlns:r="http://schemas.openxmlformats.org/officeDocument/2006/relationships" id="271" r:id="Rca5ae8282daa4d66"/>
    <p:sldId xmlns:r="http://schemas.openxmlformats.org/officeDocument/2006/relationships" id="272" r:id="R7323f5a382384814"/>
    <p:sldId xmlns:r="http://schemas.openxmlformats.org/officeDocument/2006/relationships" id="273" r:id="R65a8b5936ec048bc"/>
    <p:sldId xmlns:r="http://schemas.openxmlformats.org/officeDocument/2006/relationships" id="274" r:id="R2ca0a3baebb746f7"/>
    <p:sldId xmlns:r="http://schemas.openxmlformats.org/officeDocument/2006/relationships" id="275" r:id="Rbf09c019eda248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d6ac90ba304349" /><Relationship Type="http://schemas.openxmlformats.org/officeDocument/2006/relationships/slideMaster" Target="/ppt/slideMasters/slideMaster1.xml" Id="Rca1d540da9a24708" /><Relationship Type="http://schemas.openxmlformats.org/officeDocument/2006/relationships/notesMaster" Target="/ppt/notesMasters/notesMaster1.xml" Id="R24e44fddee354f4d" /><Relationship Type="http://schemas.openxmlformats.org/officeDocument/2006/relationships/presProps" Target="/ppt/presProps.xml" Id="Rcd1dcebe0690405a" /><Relationship Type="http://schemas.openxmlformats.org/officeDocument/2006/relationships/tableStyles" Target="/ppt/tableStyles.xml" Id="R5ac796c765404af5" /><Relationship Type="http://schemas.openxmlformats.org/officeDocument/2006/relationships/slide" Target="/ppt/slides/slide1.xml" Id="R29b2c2488659419f" /><Relationship Type="http://schemas.openxmlformats.org/officeDocument/2006/relationships/slide" Target="/ppt/slides/slide2.xml" Id="R51b438e0aba24245" /><Relationship Type="http://schemas.openxmlformats.org/officeDocument/2006/relationships/slide" Target="/ppt/slides/slide3.xml" Id="R2eb0b3b0cbce4f2e" /><Relationship Type="http://schemas.openxmlformats.org/officeDocument/2006/relationships/slide" Target="/ppt/slides/slide4.xml" Id="Rb6e7c4a20d9e4a67" /><Relationship Type="http://schemas.openxmlformats.org/officeDocument/2006/relationships/slide" Target="/ppt/slides/slide5.xml" Id="Rae5f7773830b44a3" /><Relationship Type="http://schemas.openxmlformats.org/officeDocument/2006/relationships/slide" Target="/ppt/slides/slide6.xml" Id="Rae4b136deceb4767" /><Relationship Type="http://schemas.openxmlformats.org/officeDocument/2006/relationships/slide" Target="/ppt/slides/slide7.xml" Id="R1110f43987524806" /><Relationship Type="http://schemas.openxmlformats.org/officeDocument/2006/relationships/slide" Target="/ppt/slides/slide8.xml" Id="R4fc0ad7d606040c9" /><Relationship Type="http://schemas.openxmlformats.org/officeDocument/2006/relationships/slide" Target="/ppt/slides/slide9.xml" Id="R1bffd7c41dac402b" /><Relationship Type="http://schemas.openxmlformats.org/officeDocument/2006/relationships/slide" Target="/ppt/slides/slide10.xml" Id="R46a5f2af9b634798" /><Relationship Type="http://schemas.openxmlformats.org/officeDocument/2006/relationships/slide" Target="/ppt/slides/slide11.xml" Id="Rc111bb281999440b" /><Relationship Type="http://schemas.openxmlformats.org/officeDocument/2006/relationships/slide" Target="/ppt/slides/slide12.xml" Id="R6ef52da0436345a2" /><Relationship Type="http://schemas.openxmlformats.org/officeDocument/2006/relationships/slide" Target="/ppt/slides/slide13.xml" Id="Re6b05c1bd4cd43c1" /><Relationship Type="http://schemas.openxmlformats.org/officeDocument/2006/relationships/slide" Target="/ppt/slides/slide14.xml" Id="Rbec5816f351c47ed" /><Relationship Type="http://schemas.openxmlformats.org/officeDocument/2006/relationships/slide" Target="/ppt/slides/slide15.xml" Id="R8763dade2f574ae1" /><Relationship Type="http://schemas.openxmlformats.org/officeDocument/2006/relationships/slide" Target="/ppt/slides/slide16.xml" Id="Rca5ae8282daa4d66" /><Relationship Type="http://schemas.openxmlformats.org/officeDocument/2006/relationships/slide" Target="/ppt/slides/slide17.xml" Id="R7323f5a382384814" /><Relationship Type="http://schemas.openxmlformats.org/officeDocument/2006/relationships/slide" Target="/ppt/slides/slide18.xml" Id="R65a8b5936ec048bc" /><Relationship Type="http://schemas.openxmlformats.org/officeDocument/2006/relationships/slide" Target="/ppt/slides/slide19.xml" Id="R2ca0a3baebb746f7" /><Relationship Type="http://schemas.openxmlformats.org/officeDocument/2006/relationships/slide" Target="/ppt/slides/slide20.xml" Id="Rbf09c019eda248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df2886b4db47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370b99ab124236" /><Relationship Type="http://schemas.openxmlformats.org/officeDocument/2006/relationships/notesMaster" Target="/ppt/notesMasters/notesMaster1.xml" Id="Rbbb55e5b831145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dc7f0f620f4e6f" /><Relationship Type="http://schemas.openxmlformats.org/officeDocument/2006/relationships/notesMaster" Target="/ppt/notesMasters/notesMaster1.xml" Id="Rb590ce63ff4241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ee1f2565484aae" /><Relationship Type="http://schemas.openxmlformats.org/officeDocument/2006/relationships/notesMaster" Target="/ppt/notesMasters/notesMaster1.xml" Id="Rcd759f02d3d846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55002de4da40cd" /><Relationship Type="http://schemas.openxmlformats.org/officeDocument/2006/relationships/notesMaster" Target="/ppt/notesMasters/notesMaster1.xml" Id="Rb5b8e8a801264b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dd6f67e7444eab" /><Relationship Type="http://schemas.openxmlformats.org/officeDocument/2006/relationships/notesMaster" Target="/ppt/notesMasters/notesMaster1.xml" Id="R73d4cb1876c344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1c08b54a7b4da3" /><Relationship Type="http://schemas.openxmlformats.org/officeDocument/2006/relationships/notesMaster" Target="/ppt/notesMasters/notesMaster1.xml" Id="Rcc2120af16be48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df89a8be2a4377" /><Relationship Type="http://schemas.openxmlformats.org/officeDocument/2006/relationships/notesMaster" Target="/ppt/notesMasters/notesMaster1.xml" Id="Rddc4ba05e88743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dc340be898419c" /><Relationship Type="http://schemas.openxmlformats.org/officeDocument/2006/relationships/notesMaster" Target="/ppt/notesMasters/notesMaster1.xml" Id="R6bca019a71994f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845d90fbf045c0" /><Relationship Type="http://schemas.openxmlformats.org/officeDocument/2006/relationships/notesMaster" Target="/ppt/notesMasters/notesMaster1.xml" Id="R8101ca53fc8d45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e1263d271f34bfa" /><Relationship Type="http://schemas.openxmlformats.org/officeDocument/2006/relationships/notesMaster" Target="/ppt/notesMasters/notesMaster1.xml" Id="R55d73171c42647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7def6a59854798" /><Relationship Type="http://schemas.openxmlformats.org/officeDocument/2006/relationships/notesMaster" Target="/ppt/notesMasters/notesMaster1.xml" Id="R01bf7cfd970242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a31938f10d4a05" /><Relationship Type="http://schemas.openxmlformats.org/officeDocument/2006/relationships/notesMaster" Target="/ppt/notesMasters/notesMaster1.xml" Id="R6c3acae47d1f46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46a14885b34147" /><Relationship Type="http://schemas.openxmlformats.org/officeDocument/2006/relationships/notesMaster" Target="/ppt/notesMasters/notesMaster1.xml" Id="R09a5c6a6cdcc4d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ba71e6be104a9d" /><Relationship Type="http://schemas.openxmlformats.org/officeDocument/2006/relationships/notesMaster" Target="/ppt/notesMasters/notesMaster1.xml" Id="R63ab3de4a43545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6ee6977a6740a9" /><Relationship Type="http://schemas.openxmlformats.org/officeDocument/2006/relationships/notesMaster" Target="/ppt/notesMasters/notesMaster1.xml" Id="R9113633b7bac4c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dd23cd0e064a6c" /><Relationship Type="http://schemas.openxmlformats.org/officeDocument/2006/relationships/notesMaster" Target="/ppt/notesMasters/notesMaster1.xml" Id="Rf2a4e325796747e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7b8d8d0d2140e9" /><Relationship Type="http://schemas.openxmlformats.org/officeDocument/2006/relationships/notesMaster" Target="/ppt/notesMasters/notesMaster1.xml" Id="R52942ef749d443e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a8871c6f1514204" /><Relationship Type="http://schemas.openxmlformats.org/officeDocument/2006/relationships/notesMaster" Target="/ppt/notesMasters/notesMaster1.xml" Id="R02ed8504dd6646e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344684bddc4c61" /><Relationship Type="http://schemas.openxmlformats.org/officeDocument/2006/relationships/notesMaster" Target="/ppt/notesMasters/notesMaster1.xml" Id="Rc7626252d0ca4c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aed674a697446e8" /><Relationship Type="http://schemas.openxmlformats.org/officeDocument/2006/relationships/notesMaster" Target="/ppt/notesMasters/notesMaster1.xml" Id="Ra3d91109ea784f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발표의 출발점은 모델 정확도 자체가 아닙니다. 고객의 이탈을 줄이고, 고객 생애 가치와 투자 대비 수익을 고려해 데이터 기반 의사결정을 돕는 것이 목적입니다. 오늘은 실전 이탈 예측에서 무엇을 먼저 고민하는지 설명하고, 각 단계에서 우리 프로젝트가 어떻게 접근했는지 연결하겠습니다.</a:t>
            </a:r>
          </a:p>
          <a:p xmlns:a="http://schemas.openxmlformats.org/drawingml/2006/main">
            <a:r>
              <a:t>참고: NDC 2018 「실전 이탈 예측과 유의사항」, https://ndcreplay.nexon.com/NDC2018/sessions/NDC2018_0006.html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이탈 예측은 누가 떠날지 맞히는 데서 끝나지 않습니다. 위험 고객에게 무엇을 제공할지, 그 비용이 적절한지, 실제로 플레이 유지가 늘어나는지까지 이어져야 합니다. 그래서 프로젝트의 궁극적인 목적은 LTV와 ROI를 고려한 리텐션 의사결정을 돕는 것입니다. 특정 보상이 반드시 더 싸거나 효과가 있다고 지금 데이터로 입증한 것은 아닙니다.</a:t>
            </a:r>
          </a:p>
          <a:p xmlns:a="http://schemas.openxmlformats.org/drawingml/2006/main">
            <a:r>
              <a:t>참고: NDC Replay 세션 소개, https://ndcreplay.nexon.com/NDC2018/sessions/NDC2018_0006.html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이탈 예측은 학습 데이터 생성, 데이터 가공, 모델 생성, 성능 평가의 순서로 생각할 수 있습니다. 앞단에서 이탈을 어떻게 정의하고 누구를 대상으로 할지 정하지 않으면 뒤의 성능 숫자도 해석하기 어렵습니다. 우리 발표도 이 순서에 맞춰 설명하겠습니다.</a:t>
            </a:r>
          </a:p>
          <a:p xmlns:a="http://schemas.openxmlformats.org/drawingml/2006/main">
            <a:r>
              <a:t>참고: 고객이탈 발표.txt, NDC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지도학습용 데이터는 학습 대상, 대상의 관측 정보, 그리고 이탈 여부라는 레이블로 구성됩니다. 예를 들어 한 사용자 행에 기준일 전 행동 특성을 넣고, 기준일 뒤 정한 기간 동안 경기 기록이 있었는지로 정답을 붙입니다.</a:t>
            </a:r>
          </a:p>
          <a:p xmlns:a="http://schemas.openxmlformats.org/drawingml/2006/main">
            <a:r>
              <a:t>참고: 고객이탈 발표.txt, CORE_COHORT_POLICY.md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사용자를 대상으로 삼으면 성향이 다른 집단이 섞이고, 일부는 이탈 방지 개입 자체가 어렵거나 효과를 기대하기 어려울 수 있습니다. 강연에서는 봇, 악성 이용자, 친구 따라 잠깐 만든 계정 같은 예를 들었습니다. 다만 우리 데이터에는 봇이나 악성 계정 라벨이 없으므로 그런 사용자를 판별하거나 제거했다고 말할 수 없습니다.</a:t>
            </a:r>
          </a:p>
          <a:p xmlns:a="http://schemas.openxmlformats.org/drawingml/2006/main">
            <a:r>
              <a:t>참고: NDC Replay, https://ndcreplay.nexon.com/NDC2018/sessions/NDC2018_0006.html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흔히 게임을 좋아하고 오래 플레이할 사람을 진성 고객이라고 부릅니다. 하지만 이탈 방지 목적에서는 단지 오래 플레이할 사람보다 개입으로 행동을 바꿀 가능성이 있는 사람을 대상으로 정하는 관점도 중요합니다. 이용 이력이나 군집 결과를 참고할 수 있지만, 우리 데이터에서 봇 여부와 장기 충성도를 군집으로 판정한 것은 아닙니다.</a:t>
            </a:r>
          </a:p>
          <a:p xmlns:a="http://schemas.openxmlformats.org/drawingml/2006/main">
            <a:r>
              <a:t>참고: 고객이탈 발표.txt, NDC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프로젝트에서는 행동 클러스터링 대신 경기 수 기준을 사용했습니다. 수집된 9,879명 가운데 이전 30일 4경기 이상이고 최근 30일 1경기 이상인 2,381명을 잠정 활동 고객군으로 정의했습니다. 이를 진성 고객이라고 단정하면 안 됩니다. 봇·악성 이용자를 걸러냈다는 뜻도 아닙니다. 이 기준은 우리가 가진 경기 이력으로 구현 가능한 운영 가설입니다.</a:t>
            </a:r>
          </a:p>
          <a:p xmlns:a="http://schemas.openxmlformats.org/drawingml/2006/main">
            <a:r>
              <a:t>참고: CORE_COHORT_POLICY.md,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게임·카드·통신 서비스처럼 계정을 유지하는 비용이 낮으면 고객이 이탈해도 계정 탈퇴를 하지 않을 수 있습니다. 강연에서는 1년 이상 미접속자 중 탈퇴한 계정이 0.8%였다는 사례를 들었습니다. 이 0.8%는 강연에서 소개한 사례이며 우리 LoL 표본에서 계산한 수치가 아닙니다. 따라서 탈퇴 여부 대신 연속 미접속 기간이나 경기 공백으로 이탈을 정의할 수 있습니다.</a:t>
            </a:r>
          </a:p>
          <a:p xmlns:a="http://schemas.openxmlformats.org/drawingml/2006/main">
            <a:r>
              <a:t>참고: NDC 2018 관련 보도, https://m.inven.co.kr/webzine/wznews.php?idx=198211&amp;l=35057&amp;p=2033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기간을 너무 짧게 잡으면 주말 일정이나 일시적 휴식으로 게임을 쉬는 이용자를 이탈자로 오탐할 수 있습니다. 반대로 너무 길게 기다리면 이미 떠난 고객에게 늦게 대응하게 됩니다. 업데이트 주기와 사업 계획 같은 내부 요인, 기간별 복귀·이탈율을 함께 살펴야 합니다. 강연은 1주, 2주, 3주 같은 구간 비교를 예로 들었습니다. 우리 프로젝트는 관측 가능한 게임 기록으로 30일 기준을 실험했으며 로그인 기반 미접속을 측정한 것은 아닙니다.</a:t>
            </a:r>
          </a:p>
          <a:p xmlns:a="http://schemas.openxmlformats.org/drawingml/2006/main">
            <a:r>
              <a:t>참고: NDC Replay, CORE_COHORT_POLICY.md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기준일은 2026년 8월 1일 00시 UTC입니다. 직전 30일 정보로 입력 피처를 만들고, 이후 30일에 모든 게임 모드에서 경기 기록이 없으면 경기 중단으로 라벨링했습니다. 이는 프로젝트에서 채택한 관찰 정의이지, 계정 탈퇴나 영구 이탈 확인은 아닙니다. 앞으로는 7일, 14일, 21일 등 다른 기간으로 대상 규모와 성능이 달라지는지도 검토할 수 있습니다.</a:t>
            </a:r>
          </a:p>
          <a:p xmlns:a="http://schemas.openxmlformats.org/drawingml/2006/main">
            <a:r>
              <a:t>참고: CORE_COHORT_POLICY.md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모델에는 원시 행동뿐 아니라 시간에 따른 변화를 만들 수 있습니다. 강연에서 소개한 일반적인 예는 활동 이력과 길드·파티 같은 사회활동입니다. 우리 프로젝트에는 경기 기록만 있으므로 최근 플레이 빈도, 간격, 모드, 승패, KDA처럼 현재 데이터에서 관측 가능한 피처를 사용했습니다. 어떤 신호를 만들지 도메인 전문가와 운영 담당자가 함께 검토하는 과정도 실무에 필요합니다.</a:t>
            </a:r>
          </a:p>
          <a:p xmlns:a="http://schemas.openxmlformats.org/drawingml/2006/main">
            <a:r>
              <a:t>참고: NDC Replay,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모델은 기준일 전 집계 피처 33개를 사용했습니다. 비교 모델에는 최근 경기 시퀀스에서 계산한 피처 13개를 더했습니다. 최근·이전 경기의 승률과 KDA, 연승·연패 길이 등을 포함했습니다. 소셜 활동, 로그인, 구매 정보는 수집하지 않았습니다. 따라서 경기 바깥의 원인을 설명할 수는 없습니다.</a:t>
            </a:r>
          </a:p>
          <a:p xmlns:a="http://schemas.openxmlformats.org/drawingml/2006/main">
            <a:r>
              <a:t>참고: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모델은 예측력과 해석력의 균형을 고려합니다. 위험 점수만 높아도 왜 위험한지 모르거나, 설명이 있어도 위험자를 잘 못 찾으면 활용이 어렵습니다. SHAP 등은 모델이 어떤 입력 변수에 의존했는지 보여줄 수 있지만, 그 변수의 인과효과를 증명하지는 않습니다. 우리 프로젝트에서는 CatBoost를 기준으로 두고 시퀀스 피처와 Transformer 탐색 결과를 별도로 기록했습니다.</a:t>
            </a:r>
          </a:p>
          <a:p xmlns:a="http://schemas.openxmlformats.org/drawingml/2006/main">
            <a:r>
              <a:t>참고: NDC Replay, ML_MODEL_REPORT.md,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이탈 여부를 맞히는 분류와 이탈까지 걸리는 시간을 추정하는 생존분석은 다른 질문입니다. 분류에서는 CatBoost, Random Forest, SVM, XGBoost 등을 비교할 수 있고, 생존분석에서는 Cox 회귀나 Survival Random Forest를 고려할 수 있습니다. 우리 프로젝트의 CatBoost는 30일 경기 중단 분류입니다. 화면에 있는 7일·14일·30일 생존 곡선은 합성 데이터 데모이지 실제 검증된 개인별 생존예측이 아닙니다.</a:t>
            </a:r>
          </a:p>
          <a:p xmlns:a="http://schemas.openxmlformats.org/drawingml/2006/main">
            <a:r>
              <a:t>참고: 고객이탈 발표.txt, CORE_COHORT_POLICY.md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정확도만 보면 클래스 불균형에서 유지 고객을 모두 맞히는 모델이 좋아 보일 수 있습니다. Precision이 중요하면 확실한 위험자에게만 비용이 큰 보상을 주는 상황에 맞습니다. Recall이 중요하면 놓치는 위험자를 줄이고 싶을 때 봅니다. F1은 Precision과 Recall을 함께 요약하지만, 실제 비용 구조를 대신하지는 않습니다. 어떤 지표를 우선할지는 캠페인 목적과 예산에 따라 달라집니다.</a:t>
            </a:r>
          </a:p>
          <a:p xmlns:a="http://schemas.openxmlformats.org/drawingml/2006/main">
            <a:r>
              <a:t>참고: 고객이탈 발표.txt,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2,381명 대상 CatBoost 기본 집계 모델의 5-fold out-of-fold 결과입니다. 이탈 비율은 15.25%입니다. 위험 점수 상위 20%인 477명 가운데 189명이 이후 30일간 경기 기록이 없었습니다. 그래서 Recall은 52.1%, Precision은 39.6%입니다. 점수는 보정된 개인별 이탈확률이 아니며, 이 결과도 다른 달 표본에서의 미래 검증이 아닙니다.</a:t>
            </a:r>
          </a:p>
          <a:p xmlns:a="http://schemas.openxmlformats.org/drawingml/2006/main">
            <a:r>
              <a:t>참고: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시퀀스 파생 피처를 추가한 모델의 PR-AUC는 0.3970에서 0.3977로 소폭 올랐지만 상위 20% Recall은 52.1%에서 51.8%로 낮아졌습니다. 솔로랭크 중심 그룹에서도 뚜렷한 이득을 확인하지 못했습니다. 따라서 현재 잠정 선호 후보는 더 단순한 집계 피처 모델입니다. 한 번의 기준일 교차검증 결과를 보고 선택했기 때문에 선택 편향 가능성은 남아 있습니다.</a:t>
            </a:r>
          </a:p>
          <a:p xmlns:a="http://schemas.openxmlformats.org/drawingml/2006/main">
            <a:r>
              <a:t>참고: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예측에서는 언제 이탈했는지, 관찰 종료까지 이탈하지 않았는지, 업데이트가 결과를 어떻게 바꿨는지 고려해야 합니다. 생존분석에서는 시점별 ROC와 IBS 같은 지표를 사용할 수 있지만, 여러 시점의 실제 추적 데이터가 필요합니다. 현재 분류 모델의 ROC-AUC 0.783은 일반적인 이탈/유지 분류의 순위 지표이며, time-dependent ROC가 아닙니다. 우리 프로젝트는 실제 생존분석용 IBS를 계산하지 않았고, 생존 확률 화면은 합성 데이터 데모로만 제공합니다.</a:t>
            </a:r>
          </a:p>
          <a:p xmlns:a="http://schemas.openxmlformats.org/drawingml/2006/main">
            <a:r>
              <a:t>참고: 고객이탈 발표.txt, models/core_churn_2026-08-01/RESULTS.md, CORE_COHORT_POLICY.md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모델이 위험자를 골랐다고 이탈 방지 효과까지 증명되는 것은 아닙니다. 상위 위험 사용자 안에서 캠페인 대상과 대조군을 무작위로 나누고, 이후 경기 유지율이나 플레이 횟수와 제공 비용을 비교해야 합니다. 이 결과로 추가 ROI를 추정할 수 있습니다. 현재 프로젝트는 이를 실행하지 않았으므로 캠페인 효과를 주장하지 않습니다.</a:t>
            </a:r>
          </a:p>
          <a:p xmlns:a="http://schemas.openxmlformats.org/drawingml/2006/main">
            <a:r>
              <a:t>참고: NDC Replay 세션 소개,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이탈 예측은 대상, 정답, 입력 변수, 모델, 평가 지표를 목적에 맞게 정하는 일입니다. 우리 프로젝트에서는 임시 활동 기준으로 2,381명을 정의하고, 경기 기록상 30일 중단을 예측하는 CatBoost를 5-fold 방식으로 검증했습니다. 미래 시점 검증, 확률 보정, 캠페인 A/B 테스트와 ROI 측정은 다음 과제로 남아 있습니다.</a:t>
            </a:r>
          </a:p>
          <a:p xmlns:a="http://schemas.openxmlformats.org/drawingml/2006/main">
            <a:r>
              <a:t>참고: NDC Replay, CORE_COHORT_POLICY.md, models/core_churn_2026-08-01/RESULTS.md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5fdb5244ee4e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7cf34403e8486e" /><Relationship Type="http://schemas.openxmlformats.org/officeDocument/2006/relationships/slideLayout" Target="/ppt/slideLayouts/slideLayout1.xml" Id="Rb449aaed7ca84a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49aaed7ca84a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95f1fe1aff42fb" /><Relationship Type="http://schemas.openxmlformats.org/officeDocument/2006/relationships/notesSlide" Target="/ppt/notesSlides/notesSlide1.xml" Id="R882760cc83e84b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66c33db89d490d" /><Relationship Type="http://schemas.openxmlformats.org/officeDocument/2006/relationships/notesSlide" Target="/ppt/notesSlides/notesSlide2.xml" Id="R0174cda83b4449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bbd88615d44541" /><Relationship Type="http://schemas.openxmlformats.org/officeDocument/2006/relationships/notesSlide" Target="/ppt/notesSlides/notesSlide3.xml" Id="R9db0da50e3934d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cbd4390050488c" /><Relationship Type="http://schemas.openxmlformats.org/officeDocument/2006/relationships/notesSlide" Target="/ppt/notesSlides/notesSlide4.xml" Id="Rbb7f919f990c4f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605ca5cd2f4695" /><Relationship Type="http://schemas.openxmlformats.org/officeDocument/2006/relationships/notesSlide" Target="/ppt/notesSlides/notesSlide5.xml" Id="R5c132fa1884a46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152c09319c34fec" /><Relationship Type="http://schemas.openxmlformats.org/officeDocument/2006/relationships/notesSlide" Target="/ppt/notesSlides/notesSlide6.xml" Id="R0b301168629e4c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4a07afbdbf4a44" /><Relationship Type="http://schemas.openxmlformats.org/officeDocument/2006/relationships/notesSlide" Target="/ppt/notesSlides/notesSlide7.xml" Id="Rc848b257b15c46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84f9c571e64480" /><Relationship Type="http://schemas.openxmlformats.org/officeDocument/2006/relationships/notesSlide" Target="/ppt/notesSlides/notesSlide8.xml" Id="Re9717ad36fa142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e1f9cedeec4319" /><Relationship Type="http://schemas.openxmlformats.org/officeDocument/2006/relationships/notesSlide" Target="/ppt/notesSlides/notesSlide9.xml" Id="R0e2ea14978de43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67b3f3e0b74b25" /><Relationship Type="http://schemas.openxmlformats.org/officeDocument/2006/relationships/notesSlide" Target="/ppt/notesSlides/notesSlide10.xml" Id="Ra731cc85a2cb4e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96c6946f7384456" /><Relationship Type="http://schemas.openxmlformats.org/officeDocument/2006/relationships/notesSlide" Target="/ppt/notesSlides/notesSlide11.xml" Id="R369e590a51534f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0dd4a40094641fc" /><Relationship Type="http://schemas.openxmlformats.org/officeDocument/2006/relationships/notesSlide" Target="/ppt/notesSlides/notesSlide12.xml" Id="Rb0af7d2bfbcb44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b4eecbff63244dd" /><Relationship Type="http://schemas.openxmlformats.org/officeDocument/2006/relationships/notesSlide" Target="/ppt/notesSlides/notesSlide13.xml" Id="R6e2330688e6444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a44ecb47ea34a74" /><Relationship Type="http://schemas.openxmlformats.org/officeDocument/2006/relationships/notesSlide" Target="/ppt/notesSlides/notesSlide14.xml" Id="Rabca85b681cd47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a2aaf425eb44197" /><Relationship Type="http://schemas.openxmlformats.org/officeDocument/2006/relationships/notesSlide" Target="/ppt/notesSlides/notesSlide15.xml" Id="R21297bad31294e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457d0baca524cd8" /><Relationship Type="http://schemas.openxmlformats.org/officeDocument/2006/relationships/notesSlide" Target="/ppt/notesSlides/notesSlide16.xml" Id="R2b6c3cb59e614e7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86175718ae84319" /><Relationship Type="http://schemas.openxmlformats.org/officeDocument/2006/relationships/notesSlide" Target="/ppt/notesSlides/notesSlide17.xml" Id="R50e3194c374d4b2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9edab0bbc914551" /><Relationship Type="http://schemas.openxmlformats.org/officeDocument/2006/relationships/notesSlide" Target="/ppt/notesSlides/notesSlide18.xml" Id="Re3b38fd620f94c6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138f20aee584c49" /><Relationship Type="http://schemas.openxmlformats.org/officeDocument/2006/relationships/notesSlide" Target="/ppt/notesSlides/notesSlide19.xml" Id="R03128f1facc34ab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ede7f7188a5448c" /><Relationship Type="http://schemas.openxmlformats.org/officeDocument/2006/relationships/notesSlide" Target="/ppt/notesSlides/notesSlide20.xml" Id="R5d1c87514f41478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0739A89-EC83-46CE-A22E-BF13384B2772}"/>
              </a:ext>
            </a:extLst>
          </p:cNvPr>
          <p:cNvSpPr>
            <a:spLocks xmlns:a="http://schemas.openxmlformats.org/drawingml/2006/main" noGrp="1"/>
          </p:cNvSpPr>
          <p:nvPr/>
        </p:nvSpPr>
        <p:spPr>
          <a:xfrm xmlns:a="http://schemas.openxmlformats.org/drawingml/2006/main">
            <a:off x="914400" y="1809750"/>
            <a:ext cx="103632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825" b="1">
                <a:solidFill>
                  <a:srgbClr val="111111"/>
                </a:solidFill>
                <a:latin typeface="Malgun Gothic"/>
                <a:ea typeface="Malgun Gothic"/>
                <a:cs typeface="Malgun Gothic"/>
              </a:defRPr>
            </a:pPr>
            <a:r>
              <a:rPr sz="3825" b="1">
                <a:solidFill>
                  <a:srgbClr val="111111"/>
                </a:solidFill>
                <a:latin typeface="Malgun Gothic"/>
                <a:ea typeface="Malgun Gothic"/>
                <a:cs typeface="Malgun Gothic"/>
              </a:rPr>
              <a:t>고객의 이탈을 방지하고</a:t>
            </a:r>
          </a:p>
          <a:p xmlns:a="http://schemas.openxmlformats.org/drawingml/2006/main">
            <a:pPr algn="l">
              <a:defRPr sz="3825" b="1">
                <a:solidFill>
                  <a:srgbClr val="111111"/>
                </a:solidFill>
                <a:latin typeface="Malgun Gothic"/>
                <a:ea typeface="Malgun Gothic"/>
                <a:cs typeface="Malgun Gothic"/>
              </a:defRPr>
            </a:pPr>
            <a:r>
              <a:rPr sz="3825" b="1">
                <a:solidFill>
                  <a:srgbClr val="111111"/>
                </a:solidFill>
                <a:latin typeface="Malgun Gothic"/>
                <a:ea typeface="Malgun Gothic"/>
                <a:cs typeface="Malgun Gothic"/>
              </a:rPr>
              <a:t>LTV와 ROI를 높이는 의사결정</a:t>
            </a:r>
          </a:p>
        </p:txBody>
      </p:sp>
      <p:sp>
        <p:nvSpPr>
          <p:cNvPr id="2" name="">
            <a:extLst xmlns:a="http://schemas.openxmlformats.org/drawingml/2006/main">
              <a:ext uri="{FF2B5EF4-FFF2-40B4-BE49-F238E27FC236}">
                <a16:creationId xmlns:a16="http://schemas.microsoft.com/office/drawing/2014/main" id="{A35BC8D3-B04B-4524-917D-4BE0D9DE8456}"/>
              </a:ext>
            </a:extLst>
          </p:cNvPr>
          <p:cNvSpPr>
            <a:spLocks xmlns:a="http://schemas.openxmlformats.org/drawingml/2006/main" noGrp="1"/>
          </p:cNvSpPr>
          <p:nvPr/>
        </p:nvSpPr>
        <p:spPr>
          <a:xfrm xmlns:a="http://schemas.openxmlformats.org/drawingml/2006/main">
            <a:off x="952500" y="38576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5F5F5F"/>
                </a:solidFill>
                <a:latin typeface="Malgun Gothic"/>
                <a:ea typeface="Malgun Gothic"/>
                <a:cs typeface="Malgun Gothic"/>
              </a:defRPr>
            </a:pPr>
            <a:r>
              <a:rPr sz="2025" b="0">
                <a:solidFill>
                  <a:srgbClr val="5F5F5F"/>
                </a:solidFill>
                <a:latin typeface="Malgun Gothic"/>
                <a:ea typeface="Malgun Gothic"/>
                <a:cs typeface="Malgun Gothic"/>
              </a:rPr>
              <a:t>실전 이탈 예측과 우리 프로젝트 적용</a:t>
            </a:r>
          </a:p>
        </p:txBody>
      </p:sp>
    </p:spTree>
    <p:extLst>
      <p:ext uri="{BB962C8B-B14F-4D97-AF65-F5344CB8AC3E}">
        <p14:creationId xmlns:p14="http://schemas.microsoft.com/office/powerpoint/2010/main" val="14790624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C1CDFC-B9B9-445B-8252-C58161FC417A}"/>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이탈 예측의 목적</a:t>
            </a:r>
          </a:p>
        </p:txBody>
      </p:sp>
      <p:sp>
        <p:nvSpPr>
          <p:cNvPr id="2" name="">
            <a:extLst xmlns:a="http://schemas.openxmlformats.org/drawingml/2006/main">
              <a:ext uri="{FF2B5EF4-FFF2-40B4-BE49-F238E27FC236}">
                <a16:creationId xmlns:a16="http://schemas.microsoft.com/office/drawing/2014/main" id="{F7CC0B3A-CD51-41FA-8CEA-7917D02DB249}"/>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예측 점수 자체가 목적은 아닙니다</a:t>
            </a:r>
          </a:p>
        </p:txBody>
      </p:sp>
      <p:sp>
        <p:nvSpPr>
          <p:cNvPr id="3" name="">
            <a:extLst xmlns:a="http://schemas.openxmlformats.org/drawingml/2006/main">
              <a:ext uri="{FF2B5EF4-FFF2-40B4-BE49-F238E27FC236}">
                <a16:creationId xmlns:a16="http://schemas.microsoft.com/office/drawing/2014/main" id="{EF75723F-1F2F-49F8-A946-6A90B34A536A}"/>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이탈 방지로 기대 이익을 높이는 것이 목적</a:t>
            </a:r>
          </a:p>
        </p:txBody>
      </p:sp>
      <p:sp>
        <p:nvSpPr>
          <p:cNvPr id="4" name="">
            <a:extLst xmlns:a="http://schemas.openxmlformats.org/drawingml/2006/main">
              <a:ext uri="{FF2B5EF4-FFF2-40B4-BE49-F238E27FC236}">
                <a16:creationId xmlns:a16="http://schemas.microsoft.com/office/drawing/2014/main" id="{C43FBC91-B99D-478A-97DF-C88FDD9D326D}"/>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신규 유입과 기존 고객 유지에 쓸 비용을 함께 봐야 합니다</a:t>
            </a:r>
          </a:p>
        </p:txBody>
      </p:sp>
      <p:sp>
        <p:nvSpPr>
          <p:cNvPr id="5" name="">
            <a:extLst xmlns:a="http://schemas.openxmlformats.org/drawingml/2006/main">
              <a:ext uri="{FF2B5EF4-FFF2-40B4-BE49-F238E27FC236}">
                <a16:creationId xmlns:a16="http://schemas.microsoft.com/office/drawing/2014/main" id="{2FDE9A44-4DFE-4DC0-984F-5A8845E2C252}"/>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02</a:t>
            </a:r>
          </a:p>
        </p:txBody>
      </p:sp>
    </p:spTree>
    <p:extLst>
      <p:ext uri="{BB962C8B-B14F-4D97-AF65-F5344CB8AC3E}">
        <p14:creationId xmlns:p14="http://schemas.microsoft.com/office/powerpoint/2010/main" val="19166354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7AB199A-9013-45E5-B425-28924FF510DA}"/>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예측 모델링 과정</a:t>
            </a:r>
          </a:p>
        </p:txBody>
      </p:sp>
      <p:sp>
        <p:nvSpPr>
          <p:cNvPr id="2" name="">
            <a:extLst xmlns:a="http://schemas.openxmlformats.org/drawingml/2006/main">
              <a:ext uri="{FF2B5EF4-FFF2-40B4-BE49-F238E27FC236}">
                <a16:creationId xmlns:a16="http://schemas.microsoft.com/office/drawing/2014/main" id="{BF3386CD-9235-4FD3-B4A1-3FE3471AF7A6}"/>
              </a:ext>
            </a:extLst>
          </p:cNvPr>
          <p:cNvSpPr>
            <a:spLocks xmlns:a="http://schemas.openxmlformats.org/drawingml/2006/main" noGrp="1"/>
          </p:cNvSpPr>
          <p:nvPr/>
        </p:nvSpPr>
        <p:spPr>
          <a:xfrm xmlns:a="http://schemas.openxmlformats.org/drawingml/2006/main">
            <a:off x="666750" y="2857500"/>
            <a:ext cx="219075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학습 데이터</a:t>
            </a:r>
          </a:p>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생성</a:t>
            </a:r>
          </a:p>
        </p:txBody>
      </p:sp>
      <p:sp>
        <p:nvSpPr>
          <p:cNvPr id="3" name="">
            <a:extLst xmlns:a="http://schemas.openxmlformats.org/drawingml/2006/main">
              <a:ext uri="{FF2B5EF4-FFF2-40B4-BE49-F238E27FC236}">
                <a16:creationId xmlns:a16="http://schemas.microsoft.com/office/drawing/2014/main" id="{92263E10-D5A7-4F35-B2E7-F9439F46F31B}"/>
              </a:ext>
            </a:extLst>
          </p:cNvPr>
          <p:cNvSpPr>
            <a:spLocks xmlns:a="http://schemas.openxmlformats.org/drawingml/2006/main" noGrp="1"/>
          </p:cNvSpPr>
          <p:nvPr/>
        </p:nvSpPr>
        <p:spPr>
          <a:xfrm xmlns:a="http://schemas.openxmlformats.org/drawingml/2006/main">
            <a:off x="2924175" y="3228975"/>
            <a:ext cx="504825" cy="40005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4" name="">
            <a:extLst xmlns:a="http://schemas.openxmlformats.org/drawingml/2006/main">
              <a:ext uri="{FF2B5EF4-FFF2-40B4-BE49-F238E27FC236}">
                <a16:creationId xmlns:a16="http://schemas.microsoft.com/office/drawing/2014/main" id="{FEB64DBC-D89F-4324-848F-804B0CA2BC72}"/>
              </a:ext>
            </a:extLst>
          </p:cNvPr>
          <p:cNvSpPr>
            <a:spLocks xmlns:a="http://schemas.openxmlformats.org/drawingml/2006/main" noGrp="1"/>
          </p:cNvSpPr>
          <p:nvPr/>
        </p:nvSpPr>
        <p:spPr>
          <a:xfrm xmlns:a="http://schemas.openxmlformats.org/drawingml/2006/main">
            <a:off x="3476625" y="2857500"/>
            <a:ext cx="219075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데이터 가공</a:t>
            </a:r>
          </a:p>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변수 만들기</a:t>
            </a:r>
          </a:p>
        </p:txBody>
      </p:sp>
      <p:sp>
        <p:nvSpPr>
          <p:cNvPr id="5" name="">
            <a:extLst xmlns:a="http://schemas.openxmlformats.org/drawingml/2006/main">
              <a:ext uri="{FF2B5EF4-FFF2-40B4-BE49-F238E27FC236}">
                <a16:creationId xmlns:a16="http://schemas.microsoft.com/office/drawing/2014/main" id="{55B6C7C5-6ABB-4731-A24A-5D78075C2AF8}"/>
              </a:ext>
            </a:extLst>
          </p:cNvPr>
          <p:cNvSpPr>
            <a:spLocks xmlns:a="http://schemas.openxmlformats.org/drawingml/2006/main" noGrp="1"/>
          </p:cNvSpPr>
          <p:nvPr/>
        </p:nvSpPr>
        <p:spPr>
          <a:xfrm xmlns:a="http://schemas.openxmlformats.org/drawingml/2006/main">
            <a:off x="5734050" y="3228975"/>
            <a:ext cx="504825" cy="40005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6" name="">
            <a:extLst xmlns:a="http://schemas.openxmlformats.org/drawingml/2006/main">
              <a:ext uri="{FF2B5EF4-FFF2-40B4-BE49-F238E27FC236}">
                <a16:creationId xmlns:a16="http://schemas.microsoft.com/office/drawing/2014/main" id="{A95E25C0-8F32-4DD4-92C2-6E19F60ADBE3}"/>
              </a:ext>
            </a:extLst>
          </p:cNvPr>
          <p:cNvSpPr>
            <a:spLocks xmlns:a="http://schemas.openxmlformats.org/drawingml/2006/main" noGrp="1"/>
          </p:cNvSpPr>
          <p:nvPr/>
        </p:nvSpPr>
        <p:spPr>
          <a:xfrm xmlns:a="http://schemas.openxmlformats.org/drawingml/2006/main">
            <a:off x="6286500" y="2857500"/>
            <a:ext cx="219075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모델</a:t>
            </a:r>
          </a:p>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생성</a:t>
            </a:r>
          </a:p>
        </p:txBody>
      </p:sp>
      <p:sp>
        <p:nvSpPr>
          <p:cNvPr id="7" name="">
            <a:extLst xmlns:a="http://schemas.openxmlformats.org/drawingml/2006/main">
              <a:ext uri="{FF2B5EF4-FFF2-40B4-BE49-F238E27FC236}">
                <a16:creationId xmlns:a16="http://schemas.microsoft.com/office/drawing/2014/main" id="{BACEF4CB-CE45-4E8D-AA25-20B8EB2F124F}"/>
              </a:ext>
            </a:extLst>
          </p:cNvPr>
          <p:cNvSpPr>
            <a:spLocks xmlns:a="http://schemas.openxmlformats.org/drawingml/2006/main" noGrp="1"/>
          </p:cNvSpPr>
          <p:nvPr/>
        </p:nvSpPr>
        <p:spPr>
          <a:xfrm xmlns:a="http://schemas.openxmlformats.org/drawingml/2006/main">
            <a:off x="8543925" y="3228975"/>
            <a:ext cx="504825" cy="40005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8" name="">
            <a:extLst xmlns:a="http://schemas.openxmlformats.org/drawingml/2006/main">
              <a:ext uri="{FF2B5EF4-FFF2-40B4-BE49-F238E27FC236}">
                <a16:creationId xmlns:a16="http://schemas.microsoft.com/office/drawing/2014/main" id="{199AD669-B8DE-46A1-97FB-10B79CFEC0D9}"/>
              </a:ext>
            </a:extLst>
          </p:cNvPr>
          <p:cNvSpPr>
            <a:spLocks xmlns:a="http://schemas.openxmlformats.org/drawingml/2006/main" noGrp="1"/>
          </p:cNvSpPr>
          <p:nvPr/>
        </p:nvSpPr>
        <p:spPr>
          <a:xfrm xmlns:a="http://schemas.openxmlformats.org/drawingml/2006/main">
            <a:off x="9096375" y="2857500"/>
            <a:ext cx="219075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성능</a:t>
            </a:r>
          </a:p>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평가</a:t>
            </a:r>
          </a:p>
        </p:txBody>
      </p:sp>
      <p:sp>
        <p:nvSpPr>
          <p:cNvPr id="9" name="">
            <a:extLst xmlns:a="http://schemas.openxmlformats.org/drawingml/2006/main">
              <a:ext uri="{FF2B5EF4-FFF2-40B4-BE49-F238E27FC236}">
                <a16:creationId xmlns:a16="http://schemas.microsoft.com/office/drawing/2014/main" id="{4084BA93-8AF4-4DD1-B9EA-6707808B8A79}"/>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03</a:t>
            </a:r>
          </a:p>
        </p:txBody>
      </p:sp>
    </p:spTree>
    <p:extLst>
      <p:ext uri="{BB962C8B-B14F-4D97-AF65-F5344CB8AC3E}">
        <p14:creationId xmlns:p14="http://schemas.microsoft.com/office/powerpoint/2010/main" val="19061915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413610-9A1B-4E30-ADCB-7B3D3FD3BDA7}"/>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학습 데이터는 무엇으로 이루어질까</a:t>
            </a:r>
          </a:p>
        </p:txBody>
      </p:sp>
      <p:sp>
        <p:nvSpPr>
          <p:cNvPr id="2" name="">
            <a:extLst xmlns:a="http://schemas.openxmlformats.org/drawingml/2006/main">
              <a:ext uri="{FF2B5EF4-FFF2-40B4-BE49-F238E27FC236}">
                <a16:creationId xmlns:a16="http://schemas.microsoft.com/office/drawing/2014/main" id="{72596153-0D46-4D3D-B9BC-28DB487BD02C}"/>
              </a:ext>
            </a:extLst>
          </p:cNvPr>
          <p:cNvSpPr>
            <a:spLocks xmlns:a="http://schemas.openxmlformats.org/drawingml/2006/main" noGrp="1"/>
          </p:cNvSpPr>
          <p:nvPr/>
        </p:nvSpPr>
        <p:spPr>
          <a:xfrm xmlns:a="http://schemas.openxmlformats.org/drawingml/2006/main">
            <a:off x="666750" y="2667000"/>
            <a:ext cx="3000375" cy="138112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학습 대상</a:t>
            </a:r>
          </a:p>
          <a:p xmlns:a="http://schemas.openxmlformats.org/drawingml/2006/main">
            <a:pPr algn="ctr">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누구를 예측할까?</a:t>
            </a:r>
          </a:p>
        </p:txBody>
      </p:sp>
      <p:sp>
        <p:nvSpPr>
          <p:cNvPr id="3" name="">
            <a:extLst xmlns:a="http://schemas.openxmlformats.org/drawingml/2006/main">
              <a:ext uri="{FF2B5EF4-FFF2-40B4-BE49-F238E27FC236}">
                <a16:creationId xmlns:a16="http://schemas.microsoft.com/office/drawing/2014/main" id="{39962F6F-03E7-47CF-8D68-9368F26E70D3}"/>
              </a:ext>
            </a:extLst>
          </p:cNvPr>
          <p:cNvSpPr>
            <a:spLocks xmlns:a="http://schemas.openxmlformats.org/drawingml/2006/main" noGrp="1"/>
          </p:cNvSpPr>
          <p:nvPr/>
        </p:nvSpPr>
        <p:spPr>
          <a:xfrm xmlns:a="http://schemas.openxmlformats.org/drawingml/2006/main">
            <a:off x="3857625" y="3143250"/>
            <a:ext cx="666750" cy="40005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4" name="">
            <a:extLst xmlns:a="http://schemas.openxmlformats.org/drawingml/2006/main">
              <a:ext uri="{FF2B5EF4-FFF2-40B4-BE49-F238E27FC236}">
                <a16:creationId xmlns:a16="http://schemas.microsoft.com/office/drawing/2014/main" id="{56CC6675-F46A-4585-91A2-B80B297227A7}"/>
              </a:ext>
            </a:extLst>
          </p:cNvPr>
          <p:cNvSpPr>
            <a:spLocks xmlns:a="http://schemas.openxmlformats.org/drawingml/2006/main" noGrp="1"/>
          </p:cNvSpPr>
          <p:nvPr/>
        </p:nvSpPr>
        <p:spPr>
          <a:xfrm xmlns:a="http://schemas.openxmlformats.org/drawingml/2006/main">
            <a:off x="4619625" y="2667000"/>
            <a:ext cx="3000375" cy="138112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관측 정보</a:t>
            </a:r>
          </a:p>
          <a:p xmlns:a="http://schemas.openxmlformats.org/drawingml/2006/main">
            <a:pPr algn="ctr">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활동·행동 변수</a:t>
            </a:r>
          </a:p>
        </p:txBody>
      </p:sp>
      <p:sp>
        <p:nvSpPr>
          <p:cNvPr id="5" name="">
            <a:extLst xmlns:a="http://schemas.openxmlformats.org/drawingml/2006/main">
              <a:ext uri="{FF2B5EF4-FFF2-40B4-BE49-F238E27FC236}">
                <a16:creationId xmlns:a16="http://schemas.microsoft.com/office/drawing/2014/main" id="{50C09AB9-7FF8-461B-816D-DD90B22B6EA9}"/>
              </a:ext>
            </a:extLst>
          </p:cNvPr>
          <p:cNvSpPr>
            <a:spLocks xmlns:a="http://schemas.openxmlformats.org/drawingml/2006/main" noGrp="1"/>
          </p:cNvSpPr>
          <p:nvPr/>
        </p:nvSpPr>
        <p:spPr>
          <a:xfrm xmlns:a="http://schemas.openxmlformats.org/drawingml/2006/main">
            <a:off x="7810500" y="3143250"/>
            <a:ext cx="666750" cy="40005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6" name="">
            <a:extLst xmlns:a="http://schemas.openxmlformats.org/drawingml/2006/main">
              <a:ext uri="{FF2B5EF4-FFF2-40B4-BE49-F238E27FC236}">
                <a16:creationId xmlns:a16="http://schemas.microsoft.com/office/drawing/2014/main" id="{AFCB6D87-B4B5-4B89-AD3C-ED1A9D214206}"/>
              </a:ext>
            </a:extLst>
          </p:cNvPr>
          <p:cNvSpPr>
            <a:spLocks xmlns:a="http://schemas.openxmlformats.org/drawingml/2006/main" noGrp="1"/>
          </p:cNvSpPr>
          <p:nvPr/>
        </p:nvSpPr>
        <p:spPr>
          <a:xfrm xmlns:a="http://schemas.openxmlformats.org/drawingml/2006/main">
            <a:off x="8572500" y="2667000"/>
            <a:ext cx="3000375" cy="138112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레이블</a:t>
            </a:r>
          </a:p>
          <a:p xmlns:a="http://schemas.openxmlformats.org/drawingml/2006/main">
            <a:pPr algn="ctr">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이탈했는가?</a:t>
            </a:r>
          </a:p>
        </p:txBody>
      </p:sp>
      <p:sp>
        <p:nvSpPr>
          <p:cNvPr id="7" name="">
            <a:extLst xmlns:a="http://schemas.openxmlformats.org/drawingml/2006/main">
              <a:ext uri="{FF2B5EF4-FFF2-40B4-BE49-F238E27FC236}">
                <a16:creationId xmlns:a16="http://schemas.microsoft.com/office/drawing/2014/main" id="{E708A89F-7DA2-4168-A79E-F88F79043EA6}"/>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04</a:t>
            </a:r>
          </a:p>
        </p:txBody>
      </p:sp>
    </p:spTree>
    <p:extLst>
      <p:ext uri="{BB962C8B-B14F-4D97-AF65-F5344CB8AC3E}">
        <p14:creationId xmlns:p14="http://schemas.microsoft.com/office/powerpoint/2010/main" val="16041105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6F3DE1-BE30-4CB6-8462-9EF0A4450E6D}"/>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누구를 예측할 것인가</a:t>
            </a:r>
          </a:p>
        </p:txBody>
      </p:sp>
      <p:sp>
        <p:nvSpPr>
          <p:cNvPr id="2" name="">
            <a:extLst xmlns:a="http://schemas.openxmlformats.org/drawingml/2006/main">
              <a:ext uri="{FF2B5EF4-FFF2-40B4-BE49-F238E27FC236}">
                <a16:creationId xmlns:a16="http://schemas.microsoft.com/office/drawing/2014/main" id="{CBF44462-EBA6-43B0-952F-319A5DD91664}"/>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모든 사용자를 한 모델에 넣으면</a:t>
            </a:r>
          </a:p>
        </p:txBody>
      </p:sp>
      <p:sp>
        <p:nvSpPr>
          <p:cNvPr id="3" name="">
            <a:extLst xmlns:a="http://schemas.openxmlformats.org/drawingml/2006/main">
              <a:ext uri="{FF2B5EF4-FFF2-40B4-BE49-F238E27FC236}">
                <a16:creationId xmlns:a16="http://schemas.microsoft.com/office/drawing/2014/main" id="{504A8682-37D6-4AE3-98E0-17714509E287}"/>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플레이 성향과 개입 가능성이 서로 다릅니다</a:t>
            </a:r>
          </a:p>
        </p:txBody>
      </p:sp>
      <p:sp>
        <p:nvSpPr>
          <p:cNvPr id="4" name="">
            <a:extLst xmlns:a="http://schemas.openxmlformats.org/drawingml/2006/main">
              <a:ext uri="{FF2B5EF4-FFF2-40B4-BE49-F238E27FC236}">
                <a16:creationId xmlns:a16="http://schemas.microsoft.com/office/drawing/2014/main" id="{5F8C0113-FF20-46F6-966A-D6F0C5A6C691}"/>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봇·악성 이용자·우연히 가입한 저관여 이용자는 별도 검토 대상</a:t>
            </a:r>
          </a:p>
        </p:txBody>
      </p:sp>
      <p:sp>
        <p:nvSpPr>
          <p:cNvPr id="5" name="">
            <a:extLst xmlns:a="http://schemas.openxmlformats.org/drawingml/2006/main">
              <a:ext uri="{FF2B5EF4-FFF2-40B4-BE49-F238E27FC236}">
                <a16:creationId xmlns:a16="http://schemas.microsoft.com/office/drawing/2014/main" id="{D00B8B9E-A2F5-433B-9498-DD64FAAB19A4}"/>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05</a:t>
            </a:r>
          </a:p>
        </p:txBody>
      </p:sp>
    </p:spTree>
    <p:extLst>
      <p:ext uri="{BB962C8B-B14F-4D97-AF65-F5344CB8AC3E}">
        <p14:creationId xmlns:p14="http://schemas.microsoft.com/office/powerpoint/2010/main" val="12799763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26388B-85FF-467E-BC59-4EDDFB928D8E}"/>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진성 고객과 정책 대상은 다를 수 있습니다</a:t>
            </a:r>
          </a:p>
        </p:txBody>
      </p:sp>
      <p:sp>
        <p:nvSpPr>
          <p:cNvPr id="2" name="">
            <a:extLst xmlns:a="http://schemas.openxmlformats.org/drawingml/2006/main">
              <a:ext uri="{FF2B5EF4-FFF2-40B4-BE49-F238E27FC236}">
                <a16:creationId xmlns:a16="http://schemas.microsoft.com/office/drawing/2014/main" id="{F4468B14-78AD-4176-BB9C-65312656CCEE}"/>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오래 플레이할 사람을 찾는 것</a:t>
            </a:r>
          </a:p>
        </p:txBody>
      </p:sp>
      <p:sp>
        <p:nvSpPr>
          <p:cNvPr id="3" name="">
            <a:extLst xmlns:a="http://schemas.openxmlformats.org/drawingml/2006/main">
              <a:ext uri="{FF2B5EF4-FFF2-40B4-BE49-F238E27FC236}">
                <a16:creationId xmlns:a16="http://schemas.microsoft.com/office/drawing/2014/main" id="{F481859D-B0BF-44FE-8F46-46921B3B51BA}"/>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그리고 개입 효과를 기대할 대상을 정하는 것</a:t>
            </a:r>
          </a:p>
        </p:txBody>
      </p:sp>
      <p:sp>
        <p:nvSpPr>
          <p:cNvPr id="4" name="">
            <a:extLst xmlns:a="http://schemas.openxmlformats.org/drawingml/2006/main">
              <a:ext uri="{FF2B5EF4-FFF2-40B4-BE49-F238E27FC236}">
                <a16:creationId xmlns:a16="http://schemas.microsoft.com/office/drawing/2014/main" id="{3E613B88-B421-478B-9B8D-A5D3FA2D4D26}"/>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이상적인 대상 정의와 실제 데이터로 만들 수 있는 기준은 구분해야 합니다</a:t>
            </a:r>
          </a:p>
        </p:txBody>
      </p:sp>
      <p:sp>
        <p:nvSpPr>
          <p:cNvPr id="5" name="">
            <a:extLst xmlns:a="http://schemas.openxmlformats.org/drawingml/2006/main">
              <a:ext uri="{FF2B5EF4-FFF2-40B4-BE49-F238E27FC236}">
                <a16:creationId xmlns:a16="http://schemas.microsoft.com/office/drawing/2014/main" id="{AF37CECD-0FB3-47DD-8107-182C3866FB64}"/>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06</a:t>
            </a:r>
          </a:p>
        </p:txBody>
      </p:sp>
    </p:spTree>
    <p:extLst>
      <p:ext uri="{BB962C8B-B14F-4D97-AF65-F5344CB8AC3E}">
        <p14:creationId xmlns:p14="http://schemas.microsoft.com/office/powerpoint/2010/main" val="20789503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505006-79B1-4AB0-A6D2-F48F47B79F73}"/>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우리 프로젝트의 대상 기준</a:t>
            </a:r>
          </a:p>
        </p:txBody>
      </p:sp>
      <p:sp>
        <p:nvSpPr>
          <p:cNvPr id="2" name="">
            <a:extLst xmlns:a="http://schemas.openxmlformats.org/drawingml/2006/main">
              <a:ext uri="{FF2B5EF4-FFF2-40B4-BE49-F238E27FC236}">
                <a16:creationId xmlns:a16="http://schemas.microsoft.com/office/drawing/2014/main" id="{37DF4B57-4D6D-4FB3-8166-461B75EB20DA}"/>
              </a:ext>
            </a:extLst>
          </p:cNvPr>
          <p:cNvSpPr>
            <a:spLocks xmlns:a="http://schemas.openxmlformats.org/drawingml/2006/main" noGrp="1"/>
          </p:cNvSpPr>
          <p:nvPr/>
        </p:nvSpPr>
        <p:spPr>
          <a:xfrm xmlns:a="http://schemas.openxmlformats.org/drawingml/2006/main">
            <a:off x="904875" y="2476500"/>
            <a:ext cx="3429000" cy="138112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111111"/>
                </a:solidFill>
                <a:latin typeface="Malgun Gothic"/>
                <a:ea typeface="Malgun Gothic"/>
                <a:cs typeface="Malgun Gothic"/>
              </a:defRPr>
            </a:pPr>
            <a:r>
              <a:rPr sz="2550" b="1">
                <a:solidFill>
                  <a:srgbClr val="111111"/>
                </a:solidFill>
                <a:latin typeface="Malgun Gothic"/>
                <a:ea typeface="Malgun Gothic"/>
                <a:cs typeface="Malgun Gothic"/>
              </a:rPr>
              <a:t>수집 사용자</a:t>
            </a:r>
          </a:p>
          <a:p xmlns:a="http://schemas.openxmlformats.org/drawingml/2006/main">
            <a:pPr algn="ctr">
              <a:defRPr sz="2550" b="1">
                <a:solidFill>
                  <a:srgbClr val="111111"/>
                </a:solidFill>
                <a:latin typeface="Malgun Gothic"/>
                <a:ea typeface="Malgun Gothic"/>
                <a:cs typeface="Malgun Gothic"/>
              </a:defRPr>
            </a:pPr>
            <a:r>
              <a:rPr sz="2550" b="1">
                <a:solidFill>
                  <a:srgbClr val="111111"/>
                </a:solidFill>
                <a:latin typeface="Malgun Gothic"/>
                <a:ea typeface="Malgun Gothic"/>
                <a:cs typeface="Malgun Gothic"/>
              </a:rPr>
              <a:t>9,879명</a:t>
            </a:r>
          </a:p>
        </p:txBody>
      </p:sp>
      <p:sp>
        <p:nvSpPr>
          <p:cNvPr id="3" name="">
            <a:extLst xmlns:a="http://schemas.openxmlformats.org/drawingml/2006/main">
              <a:ext uri="{FF2B5EF4-FFF2-40B4-BE49-F238E27FC236}">
                <a16:creationId xmlns:a16="http://schemas.microsoft.com/office/drawing/2014/main" id="{06FA1022-2583-41C1-9C72-9205A21A6026}"/>
              </a:ext>
            </a:extLst>
          </p:cNvPr>
          <p:cNvSpPr>
            <a:spLocks xmlns:a="http://schemas.openxmlformats.org/drawingml/2006/main" noGrp="1"/>
          </p:cNvSpPr>
          <p:nvPr/>
        </p:nvSpPr>
        <p:spPr>
          <a:xfrm xmlns:a="http://schemas.openxmlformats.org/drawingml/2006/main">
            <a:off x="4905375" y="2962275"/>
            <a:ext cx="1095375" cy="49530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4" name="">
            <a:extLst xmlns:a="http://schemas.openxmlformats.org/drawingml/2006/main">
              <a:ext uri="{FF2B5EF4-FFF2-40B4-BE49-F238E27FC236}">
                <a16:creationId xmlns:a16="http://schemas.microsoft.com/office/drawing/2014/main" id="{A3D703AF-6AA7-4EF7-B629-31767F217EF4}"/>
              </a:ext>
            </a:extLst>
          </p:cNvPr>
          <p:cNvSpPr>
            <a:spLocks xmlns:a="http://schemas.openxmlformats.org/drawingml/2006/main" noGrp="1"/>
          </p:cNvSpPr>
          <p:nvPr/>
        </p:nvSpPr>
        <p:spPr>
          <a:xfrm xmlns:a="http://schemas.openxmlformats.org/drawingml/2006/main">
            <a:off x="6572250" y="2476500"/>
            <a:ext cx="4333875" cy="138112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111111"/>
                </a:solidFill>
                <a:latin typeface="Malgun Gothic"/>
                <a:ea typeface="Malgun Gothic"/>
                <a:cs typeface="Malgun Gothic"/>
              </a:defRPr>
            </a:pPr>
            <a:r>
              <a:rPr sz="2550" b="1">
                <a:solidFill>
                  <a:srgbClr val="111111"/>
                </a:solidFill>
                <a:latin typeface="Malgun Gothic"/>
                <a:ea typeface="Malgun Gothic"/>
                <a:cs typeface="Malgun Gothic"/>
              </a:rPr>
              <a:t>잠정 활동 고객군</a:t>
            </a:r>
          </a:p>
          <a:p xmlns:a="http://schemas.openxmlformats.org/drawingml/2006/main">
            <a:pPr algn="ctr">
              <a:defRPr sz="2550" b="1">
                <a:solidFill>
                  <a:srgbClr val="111111"/>
                </a:solidFill>
                <a:latin typeface="Malgun Gothic"/>
                <a:ea typeface="Malgun Gothic"/>
                <a:cs typeface="Malgun Gothic"/>
              </a:defRPr>
            </a:pPr>
            <a:r>
              <a:rPr sz="2550" b="1">
                <a:solidFill>
                  <a:srgbClr val="111111"/>
                </a:solidFill>
                <a:latin typeface="Malgun Gothic"/>
                <a:ea typeface="Malgun Gothic"/>
                <a:cs typeface="Malgun Gothic"/>
              </a:rPr>
              <a:t>2,381명</a:t>
            </a:r>
          </a:p>
        </p:txBody>
      </p:sp>
      <p:sp>
        <p:nvSpPr>
          <p:cNvPr id="5" name="">
            <a:extLst xmlns:a="http://schemas.openxmlformats.org/drawingml/2006/main">
              <a:ext uri="{FF2B5EF4-FFF2-40B4-BE49-F238E27FC236}">
                <a16:creationId xmlns:a16="http://schemas.microsoft.com/office/drawing/2014/main" id="{F90B8984-86A1-490A-9235-744C5A4F724A}"/>
              </a:ext>
            </a:extLst>
          </p:cNvPr>
          <p:cNvSpPr>
            <a:spLocks xmlns:a="http://schemas.openxmlformats.org/drawingml/2006/main" noGrp="1"/>
          </p:cNvSpPr>
          <p:nvPr/>
        </p:nvSpPr>
        <p:spPr>
          <a:xfrm xmlns:a="http://schemas.openxmlformats.org/drawingml/2006/main">
            <a:off x="1381125" y="4362450"/>
            <a:ext cx="942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0">
                <a:solidFill>
                  <a:srgbClr val="5F5F5F"/>
                </a:solidFill>
                <a:latin typeface="Malgun Gothic"/>
                <a:ea typeface="Malgun Gothic"/>
                <a:cs typeface="Malgun Gothic"/>
              </a:defRPr>
            </a:pPr>
            <a:r>
              <a:rPr sz="1875" b="0">
                <a:solidFill>
                  <a:srgbClr val="5F5F5F"/>
                </a:solidFill>
                <a:latin typeface="Malgun Gothic"/>
                <a:ea typeface="Malgun Gothic"/>
                <a:cs typeface="Malgun Gothic"/>
              </a:rPr>
              <a:t>이전 30일 4경기 이상  +  최근 30일 1경기 이상</a:t>
            </a:r>
          </a:p>
        </p:txBody>
      </p:sp>
      <p:sp>
        <p:nvSpPr>
          <p:cNvPr id="6" name="">
            <a:extLst xmlns:a="http://schemas.openxmlformats.org/drawingml/2006/main">
              <a:ext uri="{FF2B5EF4-FFF2-40B4-BE49-F238E27FC236}">
                <a16:creationId xmlns:a16="http://schemas.microsoft.com/office/drawing/2014/main" id="{9877E86A-EEBF-4200-87CC-0F38246FAB96}"/>
              </a:ext>
            </a:extLst>
          </p:cNvPr>
          <p:cNvSpPr>
            <a:spLocks xmlns:a="http://schemas.openxmlformats.org/drawingml/2006/main" noGrp="1"/>
          </p:cNvSpPr>
          <p:nvPr/>
        </p:nvSpPr>
        <p:spPr>
          <a:xfrm xmlns:a="http://schemas.openxmlformats.org/drawingml/2006/main">
            <a:off x="2095500" y="50482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5F5F5F"/>
                </a:solidFill>
                <a:latin typeface="Malgun Gothic"/>
                <a:ea typeface="Malgun Gothic"/>
                <a:cs typeface="Malgun Gothic"/>
              </a:defRPr>
            </a:pPr>
            <a:r>
              <a:rPr sz="1575" b="0">
                <a:solidFill>
                  <a:srgbClr val="5F5F5F"/>
                </a:solidFill>
                <a:latin typeface="Malgun Gothic"/>
                <a:ea typeface="Malgun Gothic"/>
                <a:cs typeface="Malgun Gothic"/>
              </a:rPr>
              <a:t>봇·악성·충성도 판정이나 군집 결과는 아님</a:t>
            </a:r>
          </a:p>
        </p:txBody>
      </p:sp>
      <p:sp>
        <p:nvSpPr>
          <p:cNvPr id="7" name="">
            <a:extLst xmlns:a="http://schemas.openxmlformats.org/drawingml/2006/main">
              <a:ext uri="{FF2B5EF4-FFF2-40B4-BE49-F238E27FC236}">
                <a16:creationId xmlns:a16="http://schemas.microsoft.com/office/drawing/2014/main" id="{67CC1DA2-587C-42E5-9706-5C1257CEA747}"/>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07</a:t>
            </a:r>
          </a:p>
        </p:txBody>
      </p:sp>
    </p:spTree>
    <p:extLst>
      <p:ext uri="{BB962C8B-B14F-4D97-AF65-F5344CB8AC3E}">
        <p14:creationId xmlns:p14="http://schemas.microsoft.com/office/powerpoint/2010/main" val="17874915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DAFF91-3362-48E6-B920-8B6BA04695B8}"/>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이탈은 계정 탈퇴와 다릅니다</a:t>
            </a:r>
          </a:p>
        </p:txBody>
      </p:sp>
      <p:sp>
        <p:nvSpPr>
          <p:cNvPr id="2" name="">
            <a:extLst xmlns:a="http://schemas.openxmlformats.org/drawingml/2006/main">
              <a:ext uri="{FF2B5EF4-FFF2-40B4-BE49-F238E27FC236}">
                <a16:creationId xmlns:a16="http://schemas.microsoft.com/office/drawing/2014/main" id="{E9B7E433-0074-4E25-8963-9E042A5FAA31}"/>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게임 계정은 남아 있어도</a:t>
            </a:r>
          </a:p>
        </p:txBody>
      </p:sp>
      <p:sp>
        <p:nvSpPr>
          <p:cNvPr id="3" name="">
            <a:extLst xmlns:a="http://schemas.openxmlformats.org/drawingml/2006/main">
              <a:ext uri="{FF2B5EF4-FFF2-40B4-BE49-F238E27FC236}">
                <a16:creationId xmlns:a16="http://schemas.microsoft.com/office/drawing/2014/main" id="{7B6FC185-3D92-4419-B35D-871444CE1910}"/>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실제 플레이는 오래전에 멈췄을 수 있습니다</a:t>
            </a:r>
          </a:p>
        </p:txBody>
      </p:sp>
      <p:sp>
        <p:nvSpPr>
          <p:cNvPr id="4" name="">
            <a:extLst xmlns:a="http://schemas.openxmlformats.org/drawingml/2006/main">
              <a:ext uri="{FF2B5EF4-FFF2-40B4-BE49-F238E27FC236}">
                <a16:creationId xmlns:a16="http://schemas.microsoft.com/office/drawing/2014/main" id="{84A8BB0B-FD94-43A6-B5DE-D28E18A708FF}"/>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강연 사례: 1년 이상 미접속자 중 탈퇴 계정 0.8%</a:t>
            </a:r>
          </a:p>
        </p:txBody>
      </p:sp>
      <p:sp>
        <p:nvSpPr>
          <p:cNvPr id="5" name="">
            <a:extLst xmlns:a="http://schemas.openxmlformats.org/drawingml/2006/main">
              <a:ext uri="{FF2B5EF4-FFF2-40B4-BE49-F238E27FC236}">
                <a16:creationId xmlns:a16="http://schemas.microsoft.com/office/drawing/2014/main" id="{B39DF240-BA0E-4AE7-BE13-5B91B978BF5C}"/>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08</a:t>
            </a:r>
          </a:p>
        </p:txBody>
      </p:sp>
    </p:spTree>
    <p:extLst>
      <p:ext uri="{BB962C8B-B14F-4D97-AF65-F5344CB8AC3E}">
        <p14:creationId xmlns:p14="http://schemas.microsoft.com/office/powerpoint/2010/main" val="9863330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9C7667-6B4E-4FCB-B02A-2D72ECF25538}"/>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미접속 기간을 정할 때 생기는 trade-off</a:t>
            </a:r>
          </a:p>
        </p:txBody>
      </p:sp>
      <p:sp>
        <p:nvSpPr>
          <p:cNvPr id="2" name="">
            <a:extLst xmlns:a="http://schemas.openxmlformats.org/drawingml/2006/main">
              <a:ext uri="{FF2B5EF4-FFF2-40B4-BE49-F238E27FC236}">
                <a16:creationId xmlns:a16="http://schemas.microsoft.com/office/drawing/2014/main" id="{9E789D51-7C44-4E84-8AB3-ED2416C0C9E4}"/>
              </a:ext>
            </a:extLst>
          </p:cNvPr>
          <p:cNvSpPr>
            <a:spLocks xmlns:a="http://schemas.openxmlformats.org/drawingml/2006/main" noGrp="1"/>
          </p:cNvSpPr>
          <p:nvPr/>
        </p:nvSpPr>
        <p:spPr>
          <a:xfrm xmlns:a="http://schemas.openxmlformats.org/drawingml/2006/main">
            <a:off x="1000125" y="2190750"/>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기간이 너무 짧으면</a:t>
            </a:r>
          </a:p>
        </p:txBody>
      </p:sp>
      <p:sp>
        <p:nvSpPr>
          <p:cNvPr id="3" name="">
            <a:extLst xmlns:a="http://schemas.openxmlformats.org/drawingml/2006/main">
              <a:ext uri="{FF2B5EF4-FFF2-40B4-BE49-F238E27FC236}">
                <a16:creationId xmlns:a16="http://schemas.microsoft.com/office/drawing/2014/main" id="{09673BD5-868E-4923-A8A3-F7C08BE42E23}"/>
              </a:ext>
            </a:extLst>
          </p:cNvPr>
          <p:cNvSpPr>
            <a:spLocks xmlns:a="http://schemas.openxmlformats.org/drawingml/2006/main" noGrp="1"/>
          </p:cNvSpPr>
          <p:nvPr/>
        </p:nvSpPr>
        <p:spPr>
          <a:xfrm xmlns:a="http://schemas.openxmlformats.org/drawingml/2006/main">
            <a:off x="1000125" y="2857500"/>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0">
                <a:solidFill>
                  <a:srgbClr val="5F5F5F"/>
                </a:solidFill>
                <a:latin typeface="Malgun Gothic"/>
                <a:ea typeface="Malgun Gothic"/>
                <a:cs typeface="Malgun Gothic"/>
              </a:defRPr>
            </a:pPr>
            <a:r>
              <a:rPr sz="2325" b="0">
                <a:solidFill>
                  <a:srgbClr val="5F5F5F"/>
                </a:solidFill>
                <a:latin typeface="Malgun Gothic"/>
                <a:ea typeface="Malgun Gothic"/>
                <a:cs typeface="Malgun Gothic"/>
              </a:rPr>
              <a:t>비이탈자를 이탈자로 오탐</a:t>
            </a:r>
          </a:p>
        </p:txBody>
      </p:sp>
      <p:sp>
        <p:nvSpPr>
          <p:cNvPr id="4" name="">
            <a:extLst xmlns:a="http://schemas.openxmlformats.org/drawingml/2006/main">
              <a:ext uri="{FF2B5EF4-FFF2-40B4-BE49-F238E27FC236}">
                <a16:creationId xmlns:a16="http://schemas.microsoft.com/office/drawing/2014/main" id="{FEDDD7A6-0BBD-4802-8AA3-5CBAA523106A}"/>
              </a:ext>
            </a:extLst>
          </p:cNvPr>
          <p:cNvSpPr>
            <a:spLocks xmlns:a="http://schemas.openxmlformats.org/drawingml/2006/main" noGrp="1"/>
          </p:cNvSpPr>
          <p:nvPr/>
        </p:nvSpPr>
        <p:spPr>
          <a:xfrm xmlns:a="http://schemas.openxmlformats.org/drawingml/2006/main">
            <a:off x="5553075" y="3028950"/>
            <a:ext cx="1047750" cy="45720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5" name="">
            <a:extLst xmlns:a="http://schemas.openxmlformats.org/drawingml/2006/main">
              <a:ext uri="{FF2B5EF4-FFF2-40B4-BE49-F238E27FC236}">
                <a16:creationId xmlns:a16="http://schemas.microsoft.com/office/drawing/2014/main" id="{281942BF-2453-4878-88FE-CDABB5FD0D2E}"/>
              </a:ext>
            </a:extLst>
          </p:cNvPr>
          <p:cNvSpPr>
            <a:spLocks xmlns:a="http://schemas.openxmlformats.org/drawingml/2006/main" noGrp="1"/>
          </p:cNvSpPr>
          <p:nvPr/>
        </p:nvSpPr>
        <p:spPr>
          <a:xfrm xmlns:a="http://schemas.openxmlformats.org/drawingml/2006/main">
            <a:off x="7000875" y="2190750"/>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기간이 너무 길면</a:t>
            </a:r>
          </a:p>
        </p:txBody>
      </p:sp>
      <p:sp>
        <p:nvSpPr>
          <p:cNvPr id="6" name="">
            <a:extLst xmlns:a="http://schemas.openxmlformats.org/drawingml/2006/main">
              <a:ext uri="{FF2B5EF4-FFF2-40B4-BE49-F238E27FC236}">
                <a16:creationId xmlns:a16="http://schemas.microsoft.com/office/drawing/2014/main" id="{2D38CF53-6AA2-4106-8DDA-43851AF3879D}"/>
              </a:ext>
            </a:extLst>
          </p:cNvPr>
          <p:cNvSpPr>
            <a:spLocks xmlns:a="http://schemas.openxmlformats.org/drawingml/2006/main" noGrp="1"/>
          </p:cNvSpPr>
          <p:nvPr/>
        </p:nvSpPr>
        <p:spPr>
          <a:xfrm xmlns:a="http://schemas.openxmlformats.org/drawingml/2006/main">
            <a:off x="7000875" y="2857500"/>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0">
                <a:solidFill>
                  <a:srgbClr val="5F5F5F"/>
                </a:solidFill>
                <a:latin typeface="Malgun Gothic"/>
                <a:ea typeface="Malgun Gothic"/>
                <a:cs typeface="Malgun Gothic"/>
              </a:defRPr>
            </a:pPr>
            <a:r>
              <a:rPr sz="2325" b="0">
                <a:solidFill>
                  <a:srgbClr val="5F5F5F"/>
                </a:solidFill>
                <a:latin typeface="Malgun Gothic"/>
                <a:ea typeface="Malgun Gothic"/>
                <a:cs typeface="Malgun Gothic"/>
              </a:rPr>
              <a:t>떠난 뒤에 늦게 대응</a:t>
            </a:r>
          </a:p>
        </p:txBody>
      </p:sp>
      <p:sp>
        <p:nvSpPr>
          <p:cNvPr id="7" name="">
            <a:extLst xmlns:a="http://schemas.openxmlformats.org/drawingml/2006/main">
              <a:ext uri="{FF2B5EF4-FFF2-40B4-BE49-F238E27FC236}">
                <a16:creationId xmlns:a16="http://schemas.microsoft.com/office/drawing/2014/main" id="{92EE1A2F-73E9-410D-81B5-BC114FEF301E}"/>
              </a:ext>
            </a:extLst>
          </p:cNvPr>
          <p:cNvSpPr>
            <a:spLocks xmlns:a="http://schemas.openxmlformats.org/drawingml/2006/main" noGrp="1"/>
          </p:cNvSpPr>
          <p:nvPr/>
        </p:nvSpPr>
        <p:spPr>
          <a:xfrm xmlns:a="http://schemas.openxmlformats.org/drawingml/2006/main">
            <a:off x="1809750" y="4429125"/>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0">
                <a:solidFill>
                  <a:srgbClr val="1769AA"/>
                </a:solidFill>
                <a:latin typeface="Malgun Gothic"/>
                <a:ea typeface="Malgun Gothic"/>
                <a:cs typeface="Malgun Gothic"/>
              </a:defRPr>
            </a:pPr>
            <a:r>
              <a:rPr sz="1875" b="0">
                <a:solidFill>
                  <a:srgbClr val="1769AA"/>
                </a:solidFill>
                <a:latin typeface="Malgun Gothic"/>
                <a:ea typeface="Malgun Gothic"/>
                <a:cs typeface="Malgun Gothic"/>
              </a:rPr>
              <a:t>업데이트 주기와 기간별 복귀율을 함께 검토</a:t>
            </a:r>
          </a:p>
        </p:txBody>
      </p:sp>
      <p:sp>
        <p:nvSpPr>
          <p:cNvPr id="8" name="">
            <a:extLst xmlns:a="http://schemas.openxmlformats.org/drawingml/2006/main">
              <a:ext uri="{FF2B5EF4-FFF2-40B4-BE49-F238E27FC236}">
                <a16:creationId xmlns:a16="http://schemas.microsoft.com/office/drawing/2014/main" id="{24E73FF4-196D-4C40-9EBB-3C8DE135C61F}"/>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09</a:t>
            </a:r>
          </a:p>
        </p:txBody>
      </p:sp>
    </p:spTree>
    <p:extLst>
      <p:ext uri="{BB962C8B-B14F-4D97-AF65-F5344CB8AC3E}">
        <p14:creationId xmlns:p14="http://schemas.microsoft.com/office/powerpoint/2010/main" val="11957358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F4A21B-6D01-48A5-89D5-B86855AEB8F3}"/>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우리의 관찰 구간</a:t>
            </a:r>
          </a:p>
        </p:txBody>
      </p:sp>
      <p:sp>
        <p:nvSpPr>
          <p:cNvPr id="2" name="">
            <a:extLst xmlns:a="http://schemas.openxmlformats.org/drawingml/2006/main">
              <a:ext uri="{FF2B5EF4-FFF2-40B4-BE49-F238E27FC236}">
                <a16:creationId xmlns:a16="http://schemas.microsoft.com/office/drawing/2014/main" id="{D36D6890-D364-4AE5-AC28-8E83EE8EED09}"/>
              </a:ext>
            </a:extLst>
          </p:cNvPr>
          <p:cNvSpPr>
            <a:spLocks xmlns:a="http://schemas.openxmlformats.org/drawingml/2006/main" noGrp="1"/>
          </p:cNvSpPr>
          <p:nvPr/>
        </p:nvSpPr>
        <p:spPr>
          <a:xfrm xmlns:a="http://schemas.openxmlformats.org/drawingml/2006/main">
            <a:off x="857250" y="2619375"/>
            <a:ext cx="409575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111111"/>
                </a:solidFill>
                <a:latin typeface="Malgun Gothic"/>
                <a:ea typeface="Malgun Gothic"/>
                <a:cs typeface="Malgun Gothic"/>
              </a:defRPr>
            </a:pPr>
            <a:r>
              <a:rPr sz="2325" b="1">
                <a:solidFill>
                  <a:srgbClr val="111111"/>
                </a:solidFill>
                <a:latin typeface="Malgun Gothic"/>
                <a:ea typeface="Malgun Gothic"/>
                <a:cs typeface="Malgun Gothic"/>
              </a:rPr>
              <a:t>기준일 이전 30일</a:t>
            </a:r>
          </a:p>
          <a:p xmlns:a="http://schemas.openxmlformats.org/drawingml/2006/main">
            <a:pPr algn="ctr">
              <a:defRPr sz="2325" b="1">
                <a:solidFill>
                  <a:srgbClr val="111111"/>
                </a:solidFill>
                <a:latin typeface="Malgun Gothic"/>
                <a:ea typeface="Malgun Gothic"/>
                <a:cs typeface="Malgun Gothic"/>
              </a:defRPr>
            </a:pPr>
            <a:r>
              <a:rPr sz="2325" b="1">
                <a:solidFill>
                  <a:srgbClr val="111111"/>
                </a:solidFill>
                <a:latin typeface="Malgun Gothic"/>
                <a:ea typeface="Malgun Gothic"/>
                <a:cs typeface="Malgun Gothic"/>
              </a:rPr>
              <a:t>입력 피처</a:t>
            </a:r>
          </a:p>
        </p:txBody>
      </p:sp>
      <p:sp>
        <p:nvSpPr>
          <p:cNvPr id="3" name="">
            <a:extLst xmlns:a="http://schemas.openxmlformats.org/drawingml/2006/main">
              <a:ext uri="{FF2B5EF4-FFF2-40B4-BE49-F238E27FC236}">
                <a16:creationId xmlns:a16="http://schemas.microsoft.com/office/drawing/2014/main" id="{3D903090-77C6-4759-A563-6A5333040E73}"/>
              </a:ext>
            </a:extLst>
          </p:cNvPr>
          <p:cNvSpPr>
            <a:spLocks xmlns:a="http://schemas.openxmlformats.org/drawingml/2006/main" noGrp="1"/>
          </p:cNvSpPr>
          <p:nvPr/>
        </p:nvSpPr>
        <p:spPr>
          <a:xfrm xmlns:a="http://schemas.openxmlformats.org/drawingml/2006/main">
            <a:off x="5572125" y="3076575"/>
            <a:ext cx="952500" cy="45720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4" name="">
            <a:extLst xmlns:a="http://schemas.openxmlformats.org/drawingml/2006/main">
              <a:ext uri="{FF2B5EF4-FFF2-40B4-BE49-F238E27FC236}">
                <a16:creationId xmlns:a16="http://schemas.microsoft.com/office/drawing/2014/main" id="{4F9BC1E8-594F-4AC7-A40E-296BCB9ACA0F}"/>
              </a:ext>
            </a:extLst>
          </p:cNvPr>
          <p:cNvSpPr>
            <a:spLocks xmlns:a="http://schemas.openxmlformats.org/drawingml/2006/main" noGrp="1"/>
          </p:cNvSpPr>
          <p:nvPr/>
        </p:nvSpPr>
        <p:spPr>
          <a:xfrm xmlns:a="http://schemas.openxmlformats.org/drawingml/2006/main">
            <a:off x="7191375" y="2619375"/>
            <a:ext cx="409575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111111"/>
                </a:solidFill>
                <a:latin typeface="Malgun Gothic"/>
                <a:ea typeface="Malgun Gothic"/>
                <a:cs typeface="Malgun Gothic"/>
              </a:defRPr>
            </a:pPr>
            <a:r>
              <a:rPr sz="2325" b="1">
                <a:solidFill>
                  <a:srgbClr val="111111"/>
                </a:solidFill>
                <a:latin typeface="Malgun Gothic"/>
                <a:ea typeface="Malgun Gothic"/>
                <a:cs typeface="Malgun Gothic"/>
              </a:rPr>
              <a:t>기준일 이후 30일</a:t>
            </a:r>
          </a:p>
          <a:p xmlns:a="http://schemas.openxmlformats.org/drawingml/2006/main">
            <a:pPr algn="ctr">
              <a:defRPr sz="2325" b="1">
                <a:solidFill>
                  <a:srgbClr val="111111"/>
                </a:solidFill>
                <a:latin typeface="Malgun Gothic"/>
                <a:ea typeface="Malgun Gothic"/>
                <a:cs typeface="Malgun Gothic"/>
              </a:defRPr>
            </a:pPr>
            <a:r>
              <a:rPr sz="2325" b="1">
                <a:solidFill>
                  <a:srgbClr val="111111"/>
                </a:solidFill>
                <a:latin typeface="Malgun Gothic"/>
                <a:ea typeface="Malgun Gothic"/>
                <a:cs typeface="Malgun Gothic"/>
              </a:rPr>
              <a:t>경기 중단 정답</a:t>
            </a:r>
          </a:p>
        </p:txBody>
      </p:sp>
      <p:sp>
        <p:nvSpPr>
          <p:cNvPr id="5" name="">
            <a:extLst xmlns:a="http://schemas.openxmlformats.org/drawingml/2006/main">
              <a:ext uri="{FF2B5EF4-FFF2-40B4-BE49-F238E27FC236}">
                <a16:creationId xmlns:a16="http://schemas.microsoft.com/office/drawing/2014/main" id="{427F74A4-197A-4832-81D6-D1B07516AE50}"/>
              </a:ext>
            </a:extLst>
          </p:cNvPr>
          <p:cNvSpPr>
            <a:spLocks xmlns:a="http://schemas.openxmlformats.org/drawingml/2006/main" noGrp="1"/>
          </p:cNvSpPr>
          <p:nvPr/>
        </p:nvSpPr>
        <p:spPr>
          <a:xfrm xmlns:a="http://schemas.openxmlformats.org/drawingml/2006/main">
            <a:off x="3667125" y="43815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769AA"/>
                </a:solidFill>
                <a:latin typeface="Malgun Gothic"/>
                <a:ea typeface="Malgun Gothic"/>
                <a:cs typeface="Malgun Gothic"/>
              </a:defRPr>
            </a:pPr>
            <a:r>
              <a:rPr sz="1950" b="1">
                <a:solidFill>
                  <a:srgbClr val="1769AA"/>
                </a:solidFill>
                <a:latin typeface="Malgun Gothic"/>
                <a:ea typeface="Malgun Gothic"/>
                <a:cs typeface="Malgun Gothic"/>
              </a:rPr>
              <a:t>2026.08.01 00:00 UTC</a:t>
            </a:r>
          </a:p>
        </p:txBody>
      </p:sp>
      <p:sp>
        <p:nvSpPr>
          <p:cNvPr id="6" name="">
            <a:extLst xmlns:a="http://schemas.openxmlformats.org/drawingml/2006/main">
              <a:ext uri="{FF2B5EF4-FFF2-40B4-BE49-F238E27FC236}">
                <a16:creationId xmlns:a16="http://schemas.microsoft.com/office/drawing/2014/main" id="{1041151D-7FF2-4A42-B6AA-CACB6A5CBC84}"/>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10</a:t>
            </a:r>
          </a:p>
        </p:txBody>
      </p:sp>
    </p:spTree>
    <p:extLst>
      <p:ext uri="{BB962C8B-B14F-4D97-AF65-F5344CB8AC3E}">
        <p14:creationId xmlns:p14="http://schemas.microsoft.com/office/powerpoint/2010/main" val="11339710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8B4C92-4305-4480-A654-9BE53246D2B0}"/>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어떤 데이터를 가공할 것인가</a:t>
            </a:r>
          </a:p>
        </p:txBody>
      </p:sp>
      <p:sp>
        <p:nvSpPr>
          <p:cNvPr id="2" name="">
            <a:extLst xmlns:a="http://schemas.openxmlformats.org/drawingml/2006/main">
              <a:ext uri="{FF2B5EF4-FFF2-40B4-BE49-F238E27FC236}">
                <a16:creationId xmlns:a16="http://schemas.microsoft.com/office/drawing/2014/main" id="{2599FEFF-68AC-4C66-8263-F7F807F66676}"/>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행동 이력은 변동까지 봅니다</a:t>
            </a:r>
          </a:p>
        </p:txBody>
      </p:sp>
      <p:sp>
        <p:nvSpPr>
          <p:cNvPr id="3" name="">
            <a:extLst xmlns:a="http://schemas.openxmlformats.org/drawingml/2006/main">
              <a:ext uri="{FF2B5EF4-FFF2-40B4-BE49-F238E27FC236}">
                <a16:creationId xmlns:a16="http://schemas.microsoft.com/office/drawing/2014/main" id="{2FEBAB58-F7F0-4E1F-ABDE-872B0D2480DF}"/>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활동량·간격·성적·모드 변화</a:t>
            </a:r>
          </a:p>
        </p:txBody>
      </p:sp>
      <p:sp>
        <p:nvSpPr>
          <p:cNvPr id="4" name="">
            <a:extLst xmlns:a="http://schemas.openxmlformats.org/drawingml/2006/main">
              <a:ext uri="{FF2B5EF4-FFF2-40B4-BE49-F238E27FC236}">
                <a16:creationId xmlns:a16="http://schemas.microsoft.com/office/drawing/2014/main" id="{EDB7F93D-1561-4F40-8065-26F192CB945E}"/>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길드·파티 등 사회활동 데이터는 우리 표본에 없음</a:t>
            </a:r>
          </a:p>
        </p:txBody>
      </p:sp>
      <p:sp>
        <p:nvSpPr>
          <p:cNvPr id="5" name="">
            <a:extLst xmlns:a="http://schemas.openxmlformats.org/drawingml/2006/main">
              <a:ext uri="{FF2B5EF4-FFF2-40B4-BE49-F238E27FC236}">
                <a16:creationId xmlns:a16="http://schemas.microsoft.com/office/drawing/2014/main" id="{47514636-0EEA-49B8-AE8C-99B246692A66}"/>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11</a:t>
            </a:r>
          </a:p>
        </p:txBody>
      </p:sp>
    </p:spTree>
    <p:extLst>
      <p:ext uri="{BB962C8B-B14F-4D97-AF65-F5344CB8AC3E}">
        <p14:creationId xmlns:p14="http://schemas.microsoft.com/office/powerpoint/2010/main" val="3643599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AE2D14-27F5-4CCA-85AA-FC8B2ABCC93F}"/>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변수 가공과 모델 입력</a:t>
            </a:r>
          </a:p>
        </p:txBody>
      </p:sp>
      <p:sp>
        <p:nvSpPr>
          <p:cNvPr id="2" name="">
            <a:extLst xmlns:a="http://schemas.openxmlformats.org/drawingml/2006/main">
              <a:ext uri="{FF2B5EF4-FFF2-40B4-BE49-F238E27FC236}">
                <a16:creationId xmlns:a16="http://schemas.microsoft.com/office/drawing/2014/main" id="{292F6061-E95F-4733-93D1-5B5D3E4921B8}"/>
              </a:ext>
            </a:extLst>
          </p:cNvPr>
          <p:cNvSpPr>
            <a:spLocks xmlns:a="http://schemas.openxmlformats.org/drawingml/2006/main" noGrp="1"/>
          </p:cNvSpPr>
          <p:nvPr/>
        </p:nvSpPr>
        <p:spPr>
          <a:xfrm xmlns:a="http://schemas.openxmlformats.org/drawingml/2006/main">
            <a:off x="1047750" y="2476500"/>
            <a:ext cx="3429000" cy="128587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111111"/>
                </a:solidFill>
                <a:latin typeface="Malgun Gothic"/>
                <a:ea typeface="Malgun Gothic"/>
                <a:cs typeface="Malgun Gothic"/>
              </a:defRPr>
            </a:pPr>
            <a:r>
              <a:rPr sz="2550" b="1">
                <a:solidFill>
                  <a:srgbClr val="111111"/>
                </a:solidFill>
                <a:latin typeface="Malgun Gothic"/>
                <a:ea typeface="Malgun Gothic"/>
                <a:cs typeface="Malgun Gothic"/>
              </a:rPr>
              <a:t>집계 피처</a:t>
            </a:r>
          </a:p>
          <a:p xmlns:a="http://schemas.openxmlformats.org/drawingml/2006/main">
            <a:pPr algn="ctr">
              <a:defRPr sz="2550" b="1">
                <a:solidFill>
                  <a:srgbClr val="111111"/>
                </a:solidFill>
                <a:latin typeface="Malgun Gothic"/>
                <a:ea typeface="Malgun Gothic"/>
                <a:cs typeface="Malgun Gothic"/>
              </a:defRPr>
            </a:pPr>
            <a:r>
              <a:rPr sz="2550" b="1">
                <a:solidFill>
                  <a:srgbClr val="111111"/>
                </a:solidFill>
                <a:latin typeface="Malgun Gothic"/>
                <a:ea typeface="Malgun Gothic"/>
                <a:cs typeface="Malgun Gothic"/>
              </a:rPr>
              <a:t>33개</a:t>
            </a:r>
          </a:p>
        </p:txBody>
      </p:sp>
      <p:sp>
        <p:nvSpPr>
          <p:cNvPr id="3" name="">
            <a:extLst xmlns:a="http://schemas.openxmlformats.org/drawingml/2006/main">
              <a:ext uri="{FF2B5EF4-FFF2-40B4-BE49-F238E27FC236}">
                <a16:creationId xmlns:a16="http://schemas.microsoft.com/office/drawing/2014/main" id="{06A498BF-1B79-46D7-BFC6-29BB7D50660F}"/>
              </a:ext>
            </a:extLst>
          </p:cNvPr>
          <p:cNvSpPr>
            <a:spLocks xmlns:a="http://schemas.openxmlformats.org/drawingml/2006/main" noGrp="1"/>
          </p:cNvSpPr>
          <p:nvPr/>
        </p:nvSpPr>
        <p:spPr>
          <a:xfrm xmlns:a="http://schemas.openxmlformats.org/drawingml/2006/main">
            <a:off x="1095375" y="40005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5F5F5F"/>
                </a:solidFill>
                <a:latin typeface="Malgun Gothic"/>
                <a:ea typeface="Malgun Gothic"/>
                <a:cs typeface="Malgun Gothic"/>
              </a:defRPr>
            </a:pPr>
            <a:r>
              <a:rPr sz="1650" b="0">
                <a:solidFill>
                  <a:srgbClr val="5F5F5F"/>
                </a:solidFill>
                <a:latin typeface="Malgun Gothic"/>
                <a:ea typeface="Malgun Gothic"/>
                <a:cs typeface="Malgun Gothic"/>
              </a:rPr>
              <a:t>기본 모델</a:t>
            </a:r>
          </a:p>
        </p:txBody>
      </p:sp>
      <p:sp>
        <p:nvSpPr>
          <p:cNvPr id="4" name="">
            <a:extLst xmlns:a="http://schemas.openxmlformats.org/drawingml/2006/main">
              <a:ext uri="{FF2B5EF4-FFF2-40B4-BE49-F238E27FC236}">
                <a16:creationId xmlns:a16="http://schemas.microsoft.com/office/drawing/2014/main" id="{2CA1E0B2-8BB4-43AE-BBE0-BE9D8F2F3994}"/>
              </a:ext>
            </a:extLst>
          </p:cNvPr>
          <p:cNvSpPr>
            <a:spLocks xmlns:a="http://schemas.openxmlformats.org/drawingml/2006/main" noGrp="1"/>
          </p:cNvSpPr>
          <p:nvPr/>
        </p:nvSpPr>
        <p:spPr>
          <a:xfrm xmlns:a="http://schemas.openxmlformats.org/drawingml/2006/main">
            <a:off x="5619750" y="2686050"/>
            <a:ext cx="85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275" b="1">
                <a:solidFill>
                  <a:srgbClr val="1769AA"/>
                </a:solidFill>
                <a:latin typeface="Malgun Gothic"/>
                <a:ea typeface="Malgun Gothic"/>
                <a:cs typeface="Malgun Gothic"/>
              </a:defRPr>
            </a:pPr>
            <a:r>
              <a:rPr sz="4275" b="1">
                <a:solidFill>
                  <a:srgbClr val="1769AA"/>
                </a:solidFill>
                <a:latin typeface="Malgun Gothic"/>
                <a:ea typeface="Malgun Gothic"/>
                <a:cs typeface="Malgun Gothic"/>
              </a:rPr>
              <a:t>+</a:t>
            </a:r>
          </a:p>
        </p:txBody>
      </p:sp>
      <p:sp>
        <p:nvSpPr>
          <p:cNvPr id="5" name="">
            <a:extLst xmlns:a="http://schemas.openxmlformats.org/drawingml/2006/main">
              <a:ext uri="{FF2B5EF4-FFF2-40B4-BE49-F238E27FC236}">
                <a16:creationId xmlns:a16="http://schemas.microsoft.com/office/drawing/2014/main" id="{CD41CD37-60A1-4DF3-BC6A-30910A4FF9EF}"/>
              </a:ext>
            </a:extLst>
          </p:cNvPr>
          <p:cNvSpPr>
            <a:spLocks xmlns:a="http://schemas.openxmlformats.org/drawingml/2006/main" noGrp="1"/>
          </p:cNvSpPr>
          <p:nvPr/>
        </p:nvSpPr>
        <p:spPr>
          <a:xfrm xmlns:a="http://schemas.openxmlformats.org/drawingml/2006/main">
            <a:off x="7524750" y="2476500"/>
            <a:ext cx="3619500" cy="1285875"/>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111111"/>
                </a:solidFill>
                <a:latin typeface="Malgun Gothic"/>
                <a:ea typeface="Malgun Gothic"/>
                <a:cs typeface="Malgun Gothic"/>
              </a:defRPr>
            </a:pPr>
            <a:r>
              <a:rPr sz="2325" b="1">
                <a:solidFill>
                  <a:srgbClr val="111111"/>
                </a:solidFill>
                <a:latin typeface="Malgun Gothic"/>
                <a:ea typeface="Malgun Gothic"/>
                <a:cs typeface="Malgun Gothic"/>
              </a:rPr>
              <a:t>경기 시퀀스</a:t>
            </a:r>
          </a:p>
          <a:p xmlns:a="http://schemas.openxmlformats.org/drawingml/2006/main">
            <a:pPr algn="ctr">
              <a:defRPr sz="2325" b="1">
                <a:solidFill>
                  <a:srgbClr val="111111"/>
                </a:solidFill>
                <a:latin typeface="Malgun Gothic"/>
                <a:ea typeface="Malgun Gothic"/>
                <a:cs typeface="Malgun Gothic"/>
              </a:defRPr>
            </a:pPr>
            <a:r>
              <a:rPr sz="2325" b="1">
                <a:solidFill>
                  <a:srgbClr val="111111"/>
                </a:solidFill>
                <a:latin typeface="Malgun Gothic"/>
                <a:ea typeface="Malgun Gothic"/>
                <a:cs typeface="Malgun Gothic"/>
              </a:rPr>
              <a:t>파생 피처 13개</a:t>
            </a:r>
          </a:p>
        </p:txBody>
      </p:sp>
      <p:sp>
        <p:nvSpPr>
          <p:cNvPr id="6" name="">
            <a:extLst xmlns:a="http://schemas.openxmlformats.org/drawingml/2006/main">
              <a:ext uri="{FF2B5EF4-FFF2-40B4-BE49-F238E27FC236}">
                <a16:creationId xmlns:a16="http://schemas.microsoft.com/office/drawing/2014/main" id="{6184D17F-81B2-4525-AAEA-2FCD2485DCFC}"/>
              </a:ext>
            </a:extLst>
          </p:cNvPr>
          <p:cNvSpPr>
            <a:spLocks xmlns:a="http://schemas.openxmlformats.org/drawingml/2006/main" noGrp="1"/>
          </p:cNvSpPr>
          <p:nvPr/>
        </p:nvSpPr>
        <p:spPr>
          <a:xfrm xmlns:a="http://schemas.openxmlformats.org/drawingml/2006/main">
            <a:off x="7572375" y="40005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5F5F5F"/>
                </a:solidFill>
                <a:latin typeface="Malgun Gothic"/>
                <a:ea typeface="Malgun Gothic"/>
                <a:cs typeface="Malgun Gothic"/>
              </a:defRPr>
            </a:pPr>
            <a:r>
              <a:rPr sz="1650" b="0">
                <a:solidFill>
                  <a:srgbClr val="5F5F5F"/>
                </a:solidFill>
                <a:latin typeface="Malgun Gothic"/>
                <a:ea typeface="Malgun Gothic"/>
                <a:cs typeface="Malgun Gothic"/>
              </a:rPr>
              <a:t>비교 모델에 추가</a:t>
            </a:r>
          </a:p>
        </p:txBody>
      </p:sp>
      <p:sp>
        <p:nvSpPr>
          <p:cNvPr id="7" name="">
            <a:extLst xmlns:a="http://schemas.openxmlformats.org/drawingml/2006/main">
              <a:ext uri="{FF2B5EF4-FFF2-40B4-BE49-F238E27FC236}">
                <a16:creationId xmlns:a16="http://schemas.microsoft.com/office/drawing/2014/main" id="{FD625382-2B9F-4E32-82A9-36ADFA36D4C3}"/>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12</a:t>
            </a:r>
          </a:p>
        </p:txBody>
      </p:sp>
    </p:spTree>
    <p:extLst>
      <p:ext uri="{BB962C8B-B14F-4D97-AF65-F5344CB8AC3E}">
        <p14:creationId xmlns:p14="http://schemas.microsoft.com/office/powerpoint/2010/main" val="20112696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2BB765-3726-4051-BCE2-E648E374E7E1}"/>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모델은 예측력과 해석력을 함께 봅니다</a:t>
            </a:r>
          </a:p>
        </p:txBody>
      </p:sp>
      <p:sp>
        <p:nvSpPr>
          <p:cNvPr id="2" name="">
            <a:extLst xmlns:a="http://schemas.openxmlformats.org/drawingml/2006/main">
              <a:ext uri="{FF2B5EF4-FFF2-40B4-BE49-F238E27FC236}">
                <a16:creationId xmlns:a16="http://schemas.microsoft.com/office/drawing/2014/main" id="{4DD1F059-6417-4EA8-A68F-862D8A54C81F}"/>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위험을 잘 찾는가</a:t>
            </a:r>
          </a:p>
        </p:txBody>
      </p:sp>
      <p:sp>
        <p:nvSpPr>
          <p:cNvPr id="3" name="">
            <a:extLst xmlns:a="http://schemas.openxmlformats.org/drawingml/2006/main">
              <a:ext uri="{FF2B5EF4-FFF2-40B4-BE49-F238E27FC236}">
                <a16:creationId xmlns:a16="http://schemas.microsoft.com/office/drawing/2014/main" id="{5F9250F7-6FE3-42D7-8931-7028E75BA0AE}"/>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왜 위험하다고 보는지 설명 가능한가</a:t>
            </a:r>
          </a:p>
        </p:txBody>
      </p:sp>
      <p:sp>
        <p:nvSpPr>
          <p:cNvPr id="4" name="">
            <a:extLst xmlns:a="http://schemas.openxmlformats.org/drawingml/2006/main">
              <a:ext uri="{FF2B5EF4-FFF2-40B4-BE49-F238E27FC236}">
                <a16:creationId xmlns:a16="http://schemas.microsoft.com/office/drawing/2014/main" id="{D8E31CBD-891C-465F-8A1A-FBC5A8352209}"/>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점수 근거는 원인이나 개입 효과와 다릅니다</a:t>
            </a:r>
          </a:p>
        </p:txBody>
      </p:sp>
      <p:sp>
        <p:nvSpPr>
          <p:cNvPr id="5" name="">
            <a:extLst xmlns:a="http://schemas.openxmlformats.org/drawingml/2006/main">
              <a:ext uri="{FF2B5EF4-FFF2-40B4-BE49-F238E27FC236}">
                <a16:creationId xmlns:a16="http://schemas.microsoft.com/office/drawing/2014/main" id="{E4D7E429-93FD-421A-86DD-7FB5E542B871}"/>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13</a:t>
            </a:r>
          </a:p>
        </p:txBody>
      </p:sp>
    </p:spTree>
    <p:extLst>
      <p:ext uri="{BB962C8B-B14F-4D97-AF65-F5344CB8AC3E}">
        <p14:creationId xmlns:p14="http://schemas.microsoft.com/office/powerpoint/2010/main" val="4626326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EAA95A-A423-47DD-8DCD-777191C6412F}"/>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예측 목표에 따라 모델이 달라집니다</a:t>
            </a:r>
          </a:p>
        </p:txBody>
      </p:sp>
      <p:sp>
        <p:nvSpPr>
          <p:cNvPr id="2" name="">
            <a:extLst xmlns:a="http://schemas.openxmlformats.org/drawingml/2006/main">
              <a:ext uri="{FF2B5EF4-FFF2-40B4-BE49-F238E27FC236}">
                <a16:creationId xmlns:a16="http://schemas.microsoft.com/office/drawing/2014/main" id="{D03B8C0F-8167-4EA6-B7AC-FA5AABD8A03B}"/>
              </a:ext>
            </a:extLst>
          </p:cNvPr>
          <p:cNvSpPr>
            <a:spLocks xmlns:a="http://schemas.openxmlformats.org/drawingml/2006/main" noGrp="1"/>
          </p:cNvSpPr>
          <p:nvPr/>
        </p:nvSpPr>
        <p:spPr>
          <a:xfrm xmlns:a="http://schemas.openxmlformats.org/drawingml/2006/main">
            <a:off x="904875" y="2647950"/>
            <a:ext cx="342900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이탈 여부</a:t>
            </a:r>
          </a:p>
          <a:p xmlns:a="http://schemas.openxmlformats.org/drawingml/2006/main">
            <a:pPr algn="ctr">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분류</a:t>
            </a:r>
          </a:p>
        </p:txBody>
      </p:sp>
      <p:sp>
        <p:nvSpPr>
          <p:cNvPr id="3" name="">
            <a:extLst xmlns:a="http://schemas.openxmlformats.org/drawingml/2006/main">
              <a:ext uri="{FF2B5EF4-FFF2-40B4-BE49-F238E27FC236}">
                <a16:creationId xmlns:a16="http://schemas.microsoft.com/office/drawing/2014/main" id="{534EC580-ACB6-4098-8B9E-6B70A657F121}"/>
              </a:ext>
            </a:extLst>
          </p:cNvPr>
          <p:cNvSpPr>
            <a:spLocks xmlns:a="http://schemas.openxmlformats.org/drawingml/2006/main" noGrp="1"/>
          </p:cNvSpPr>
          <p:nvPr/>
        </p:nvSpPr>
        <p:spPr>
          <a:xfrm xmlns:a="http://schemas.openxmlformats.org/drawingml/2006/main">
            <a:off x="4876800" y="3067050"/>
            <a:ext cx="876300" cy="47625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4" name="">
            <a:extLst xmlns:a="http://schemas.openxmlformats.org/drawingml/2006/main">
              <a:ext uri="{FF2B5EF4-FFF2-40B4-BE49-F238E27FC236}">
                <a16:creationId xmlns:a16="http://schemas.microsoft.com/office/drawing/2014/main" id="{8C50BAD3-9525-4CC2-A130-F5283312CC89}"/>
              </a:ext>
            </a:extLst>
          </p:cNvPr>
          <p:cNvSpPr>
            <a:spLocks xmlns:a="http://schemas.openxmlformats.org/drawingml/2006/main" noGrp="1"/>
          </p:cNvSpPr>
          <p:nvPr/>
        </p:nvSpPr>
        <p:spPr>
          <a:xfrm xmlns:a="http://schemas.openxmlformats.org/drawingml/2006/main">
            <a:off x="6048375" y="2647950"/>
            <a:ext cx="342900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이탈까지 시간</a:t>
            </a:r>
          </a:p>
          <a:p xmlns:a="http://schemas.openxmlformats.org/drawingml/2006/main">
            <a:pPr algn="ctr">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생존분석</a:t>
            </a:r>
          </a:p>
        </p:txBody>
      </p:sp>
      <p:sp>
        <p:nvSpPr>
          <p:cNvPr id="5" name="">
            <a:extLst xmlns:a="http://schemas.openxmlformats.org/drawingml/2006/main">
              <a:ext uri="{FF2B5EF4-FFF2-40B4-BE49-F238E27FC236}">
                <a16:creationId xmlns:a16="http://schemas.microsoft.com/office/drawing/2014/main" id="{F01DA077-F244-47C3-8CAE-66CC4F48DFD3}"/>
              </a:ext>
            </a:extLst>
          </p:cNvPr>
          <p:cNvSpPr>
            <a:spLocks xmlns:a="http://schemas.openxmlformats.org/drawingml/2006/main" noGrp="1"/>
          </p:cNvSpPr>
          <p:nvPr/>
        </p:nvSpPr>
        <p:spPr>
          <a:xfrm xmlns:a="http://schemas.openxmlformats.org/drawingml/2006/main">
            <a:off x="1143000" y="43815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5F5F5F"/>
                </a:solidFill>
                <a:latin typeface="Malgun Gothic"/>
                <a:ea typeface="Malgun Gothic"/>
                <a:cs typeface="Malgun Gothic"/>
              </a:defRPr>
            </a:pPr>
            <a:r>
              <a:rPr sz="1800" b="0">
                <a:solidFill>
                  <a:srgbClr val="5F5F5F"/>
                </a:solidFill>
                <a:latin typeface="Malgun Gothic"/>
                <a:ea typeface="Malgun Gothic"/>
                <a:cs typeface="Malgun Gothic"/>
              </a:rPr>
              <a:t>CatBoost</a:t>
            </a:r>
          </a:p>
        </p:txBody>
      </p:sp>
      <p:sp>
        <p:nvSpPr>
          <p:cNvPr id="6" name="">
            <a:extLst xmlns:a="http://schemas.openxmlformats.org/drawingml/2006/main">
              <a:ext uri="{FF2B5EF4-FFF2-40B4-BE49-F238E27FC236}">
                <a16:creationId xmlns:a16="http://schemas.microsoft.com/office/drawing/2014/main" id="{D89577BF-C611-4442-8086-59B3B9311D71}"/>
              </a:ext>
            </a:extLst>
          </p:cNvPr>
          <p:cNvSpPr>
            <a:spLocks xmlns:a="http://schemas.openxmlformats.org/drawingml/2006/main" noGrp="1"/>
          </p:cNvSpPr>
          <p:nvPr/>
        </p:nvSpPr>
        <p:spPr>
          <a:xfrm xmlns:a="http://schemas.openxmlformats.org/drawingml/2006/main">
            <a:off x="6334125" y="43815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5F5F5F"/>
                </a:solidFill>
                <a:latin typeface="Malgun Gothic"/>
                <a:ea typeface="Malgun Gothic"/>
                <a:cs typeface="Malgun Gothic"/>
              </a:defRPr>
            </a:pPr>
            <a:r>
              <a:rPr sz="1800" b="0">
                <a:solidFill>
                  <a:srgbClr val="5F5F5F"/>
                </a:solidFill>
                <a:latin typeface="Malgun Gothic"/>
                <a:ea typeface="Malgun Gothic"/>
                <a:cs typeface="Malgun Gothic"/>
              </a:rPr>
              <a:t>Cox · Survival Forest</a:t>
            </a:r>
          </a:p>
        </p:txBody>
      </p:sp>
      <p:sp>
        <p:nvSpPr>
          <p:cNvPr id="7" name="">
            <a:extLst xmlns:a="http://schemas.openxmlformats.org/drawingml/2006/main">
              <a:ext uri="{FF2B5EF4-FFF2-40B4-BE49-F238E27FC236}">
                <a16:creationId xmlns:a16="http://schemas.microsoft.com/office/drawing/2014/main" id="{81C0D38F-88E1-4FA0-9F28-A1A8824DB532}"/>
              </a:ext>
            </a:extLst>
          </p:cNvPr>
          <p:cNvSpPr>
            <a:spLocks xmlns:a="http://schemas.openxmlformats.org/drawingml/2006/main" noGrp="1"/>
          </p:cNvSpPr>
          <p:nvPr/>
        </p:nvSpPr>
        <p:spPr>
          <a:xfrm xmlns:a="http://schemas.openxmlformats.org/drawingml/2006/main">
            <a:off x="1524000" y="51435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5F5F5F"/>
                </a:solidFill>
                <a:latin typeface="Malgun Gothic"/>
                <a:ea typeface="Malgun Gothic"/>
                <a:cs typeface="Malgun Gothic"/>
              </a:defRPr>
            </a:pPr>
            <a:r>
              <a:rPr sz="1575" b="0">
                <a:solidFill>
                  <a:srgbClr val="5F5F5F"/>
                </a:solidFill>
                <a:latin typeface="Malgun Gothic"/>
                <a:ea typeface="Malgun Gothic"/>
                <a:cs typeface="Malgun Gothic"/>
              </a:rPr>
              <a:t>우리 프로젝트: 분류 실험 진행 · 생존 화면은 합성 데이터 데모</a:t>
            </a:r>
          </a:p>
        </p:txBody>
      </p:sp>
      <p:sp>
        <p:nvSpPr>
          <p:cNvPr id="8" name="">
            <a:extLst xmlns:a="http://schemas.openxmlformats.org/drawingml/2006/main">
              <a:ext uri="{FF2B5EF4-FFF2-40B4-BE49-F238E27FC236}">
                <a16:creationId xmlns:a16="http://schemas.microsoft.com/office/drawing/2014/main" id="{D7FAEA56-0E93-4D8C-AD8F-38FD486155C9}"/>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14</a:t>
            </a:r>
          </a:p>
        </p:txBody>
      </p:sp>
    </p:spTree>
    <p:extLst>
      <p:ext uri="{BB962C8B-B14F-4D97-AF65-F5344CB8AC3E}">
        <p14:creationId xmlns:p14="http://schemas.microsoft.com/office/powerpoint/2010/main" val="17379586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46C4C2-E843-4918-A592-28CDAEF07FAE}"/>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정확도만 보면 충분할까</a:t>
            </a:r>
          </a:p>
        </p:txBody>
      </p:sp>
      <p:sp>
        <p:nvSpPr>
          <p:cNvPr id="2" name="">
            <a:extLst xmlns:a="http://schemas.openxmlformats.org/drawingml/2006/main">
              <a:ext uri="{FF2B5EF4-FFF2-40B4-BE49-F238E27FC236}">
                <a16:creationId xmlns:a16="http://schemas.microsoft.com/office/drawing/2014/main" id="{24479D09-7914-454D-908E-1C775B3BD2F6}"/>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개입 목표에 맞는 지표가 필요합니다</a:t>
            </a:r>
          </a:p>
        </p:txBody>
      </p:sp>
      <p:sp>
        <p:nvSpPr>
          <p:cNvPr id="3" name="">
            <a:extLst xmlns:a="http://schemas.openxmlformats.org/drawingml/2006/main">
              <a:ext uri="{FF2B5EF4-FFF2-40B4-BE49-F238E27FC236}">
                <a16:creationId xmlns:a16="http://schemas.microsoft.com/office/drawing/2014/main" id="{EEF705B2-E4FA-4B2D-9B35-15E4FC873F8E}"/>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Precision은 선별 고객 중 실제 중단 비율</a:t>
            </a:r>
          </a:p>
        </p:txBody>
      </p:sp>
      <p:sp>
        <p:nvSpPr>
          <p:cNvPr id="4" name="">
            <a:extLst xmlns:a="http://schemas.openxmlformats.org/drawingml/2006/main">
              <a:ext uri="{FF2B5EF4-FFF2-40B4-BE49-F238E27FC236}">
                <a16:creationId xmlns:a16="http://schemas.microsoft.com/office/drawing/2014/main" id="{0CF14E88-2739-45BB-B635-1C031B6F265E}"/>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Recall은 전체 중단자 중 찾아낸 비율 · F1은 두 지표의 균형</a:t>
            </a:r>
          </a:p>
        </p:txBody>
      </p:sp>
      <p:sp>
        <p:nvSpPr>
          <p:cNvPr id="5" name="">
            <a:extLst xmlns:a="http://schemas.openxmlformats.org/drawingml/2006/main">
              <a:ext uri="{FF2B5EF4-FFF2-40B4-BE49-F238E27FC236}">
                <a16:creationId xmlns:a16="http://schemas.microsoft.com/office/drawing/2014/main" id="{67CBD7DA-7CC6-4197-BEA0-499CE513A2D8}"/>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15</a:t>
            </a:r>
          </a:p>
        </p:txBody>
      </p:sp>
    </p:spTree>
    <p:extLst>
      <p:ext uri="{BB962C8B-B14F-4D97-AF65-F5344CB8AC3E}">
        <p14:creationId xmlns:p14="http://schemas.microsoft.com/office/powerpoint/2010/main" val="9865475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E9C431-4160-4CA1-BA5D-98452CDCCE59}"/>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우리 모델의 검증 결과</a:t>
            </a:r>
          </a:p>
        </p:txBody>
      </p:sp>
      <p:sp>
        <p:nvSpPr>
          <p:cNvPr id="2" name="">
            <a:extLst xmlns:a="http://schemas.openxmlformats.org/drawingml/2006/main">
              <a:ext uri="{FF2B5EF4-FFF2-40B4-BE49-F238E27FC236}">
                <a16:creationId xmlns:a16="http://schemas.microsoft.com/office/drawing/2014/main" id="{6F476344-B813-40BE-8E8E-6F4B5CB5D86E}"/>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PR-AUC 0.397</a:t>
            </a:r>
          </a:p>
        </p:txBody>
      </p:sp>
      <p:sp>
        <p:nvSpPr>
          <p:cNvPr id="3" name="">
            <a:extLst xmlns:a="http://schemas.openxmlformats.org/drawingml/2006/main">
              <a:ext uri="{FF2B5EF4-FFF2-40B4-BE49-F238E27FC236}">
                <a16:creationId xmlns:a16="http://schemas.microsoft.com/office/drawing/2014/main" id="{FA412A95-AF7D-4C33-B7DD-E4EA0DE0522F}"/>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상위 20% 477명 중 189명이</a:t>
            </a:r>
          </a:p>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이후 30일간 경기 기록 없음</a:t>
            </a:r>
          </a:p>
        </p:txBody>
      </p:sp>
      <p:sp>
        <p:nvSpPr>
          <p:cNvPr id="4" name="">
            <a:extLst xmlns:a="http://schemas.openxmlformats.org/drawingml/2006/main">
              <a:ext uri="{FF2B5EF4-FFF2-40B4-BE49-F238E27FC236}">
                <a16:creationId xmlns:a16="http://schemas.microsoft.com/office/drawing/2014/main" id="{71EE5840-D97D-413B-B731-8987A51CEC70}"/>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Recall 52.1% · Precision 39.6% · 5-fold OoF</a:t>
            </a:r>
          </a:p>
        </p:txBody>
      </p:sp>
      <p:sp>
        <p:nvSpPr>
          <p:cNvPr id="5" name="">
            <a:extLst xmlns:a="http://schemas.openxmlformats.org/drawingml/2006/main">
              <a:ext uri="{FF2B5EF4-FFF2-40B4-BE49-F238E27FC236}">
                <a16:creationId xmlns:a16="http://schemas.microsoft.com/office/drawing/2014/main" id="{C514AB85-7D6B-4DBB-9B99-CE09B6C2C2B8}"/>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16</a:t>
            </a:r>
          </a:p>
        </p:txBody>
      </p:sp>
    </p:spTree>
    <p:extLst>
      <p:ext uri="{BB962C8B-B14F-4D97-AF65-F5344CB8AC3E}">
        <p14:creationId xmlns:p14="http://schemas.microsoft.com/office/powerpoint/2010/main" val="134184382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0CFACD-8856-4F30-AC26-C6BC7FA2D48B}"/>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모델 선택 실험</a:t>
            </a:r>
          </a:p>
        </p:txBody>
      </p:sp>
      <p:sp>
        <p:nvSpPr>
          <p:cNvPr id="2" name="">
            <a:extLst xmlns:a="http://schemas.openxmlformats.org/drawingml/2006/main">
              <a:ext uri="{FF2B5EF4-FFF2-40B4-BE49-F238E27FC236}">
                <a16:creationId xmlns:a16="http://schemas.microsoft.com/office/drawing/2014/main" id="{2299A01E-3BD2-44E1-867A-CC00F644425D}"/>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KDA·승패 시퀀스를 더해도</a:t>
            </a:r>
          </a:p>
        </p:txBody>
      </p:sp>
      <p:sp>
        <p:nvSpPr>
          <p:cNvPr id="3" name="">
            <a:extLst xmlns:a="http://schemas.openxmlformats.org/drawingml/2006/main">
              <a:ext uri="{FF2B5EF4-FFF2-40B4-BE49-F238E27FC236}">
                <a16:creationId xmlns:a16="http://schemas.microsoft.com/office/drawing/2014/main" id="{E1C66783-A559-4102-B7D7-B68FB0EDA1E2}"/>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전체 성능 차이는 거의 없었습니다</a:t>
            </a:r>
          </a:p>
        </p:txBody>
      </p:sp>
      <p:sp>
        <p:nvSpPr>
          <p:cNvPr id="4" name="">
            <a:extLst xmlns:a="http://schemas.openxmlformats.org/drawingml/2006/main">
              <a:ext uri="{FF2B5EF4-FFF2-40B4-BE49-F238E27FC236}">
                <a16:creationId xmlns:a16="http://schemas.microsoft.com/office/drawing/2014/main" id="{5E71B835-96C8-43C7-B779-579BBB3C394B}"/>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PR-AUC 0.3970 → 0.3977  ·  상위 20% Recall 52.1% → 51.8%</a:t>
            </a:r>
          </a:p>
        </p:txBody>
      </p:sp>
      <p:sp>
        <p:nvSpPr>
          <p:cNvPr id="5" name="">
            <a:extLst xmlns:a="http://schemas.openxmlformats.org/drawingml/2006/main">
              <a:ext uri="{FF2B5EF4-FFF2-40B4-BE49-F238E27FC236}">
                <a16:creationId xmlns:a16="http://schemas.microsoft.com/office/drawing/2014/main" id="{74AC9B3E-6266-49A8-80A1-CFC4AB93F685}"/>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17</a:t>
            </a:r>
          </a:p>
        </p:txBody>
      </p:sp>
    </p:spTree>
    <p:extLst>
      <p:ext uri="{BB962C8B-B14F-4D97-AF65-F5344CB8AC3E}">
        <p14:creationId xmlns:p14="http://schemas.microsoft.com/office/powerpoint/2010/main" val="1616740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4CDDF3-2E05-4C13-A866-1FC4E777A7E5}"/>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평가에는 시간도 중요합니다</a:t>
            </a:r>
          </a:p>
        </p:txBody>
      </p:sp>
      <p:sp>
        <p:nvSpPr>
          <p:cNvPr id="2" name="">
            <a:extLst xmlns:a="http://schemas.openxmlformats.org/drawingml/2006/main">
              <a:ext uri="{FF2B5EF4-FFF2-40B4-BE49-F238E27FC236}">
                <a16:creationId xmlns:a16="http://schemas.microsoft.com/office/drawing/2014/main" id="{FDD98D07-0E31-4FFB-A774-B2465CEAB554}"/>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내일 이탈 예측, 3일 뒤 이탈</a:t>
            </a:r>
          </a:p>
        </p:txBody>
      </p:sp>
      <p:sp>
        <p:nvSpPr>
          <p:cNvPr id="3" name="">
            <a:extLst xmlns:a="http://schemas.openxmlformats.org/drawingml/2006/main">
              <a:ext uri="{FF2B5EF4-FFF2-40B4-BE49-F238E27FC236}">
                <a16:creationId xmlns:a16="http://schemas.microsoft.com/office/drawing/2014/main" id="{E338B2ED-73D7-4447-B65A-52EF1B7829D8}"/>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이 예측을 맞혔다고 볼 수 있을까?</a:t>
            </a:r>
          </a:p>
        </p:txBody>
      </p:sp>
      <p:sp>
        <p:nvSpPr>
          <p:cNvPr id="4" name="">
            <a:extLst xmlns:a="http://schemas.openxmlformats.org/drawingml/2006/main">
              <a:ext uri="{FF2B5EF4-FFF2-40B4-BE49-F238E27FC236}">
                <a16:creationId xmlns:a16="http://schemas.microsoft.com/office/drawing/2014/main" id="{8547E5CF-6B8D-4E91-B326-B83E46940611}"/>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시점별 변화는 단일 분류 점수만으로 설명하기 어렵습니다</a:t>
            </a:r>
          </a:p>
        </p:txBody>
      </p:sp>
      <p:sp>
        <p:nvSpPr>
          <p:cNvPr id="5" name="">
            <a:extLst xmlns:a="http://schemas.openxmlformats.org/drawingml/2006/main">
              <a:ext uri="{FF2B5EF4-FFF2-40B4-BE49-F238E27FC236}">
                <a16:creationId xmlns:a16="http://schemas.microsoft.com/office/drawing/2014/main" id="{9791C58D-F1C9-4F25-AB5F-A2C73F8B0A30}"/>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18</a:t>
            </a:r>
          </a:p>
        </p:txBody>
      </p:sp>
    </p:spTree>
    <p:extLst>
      <p:ext uri="{BB962C8B-B14F-4D97-AF65-F5344CB8AC3E}">
        <p14:creationId xmlns:p14="http://schemas.microsoft.com/office/powerpoint/2010/main" val="12203540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46CAA5-AA7B-4177-B733-B30B0C361741}"/>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예측 이후에 검증할 것</a:t>
            </a:r>
          </a:p>
        </p:txBody>
      </p:sp>
      <p:sp>
        <p:nvSpPr>
          <p:cNvPr id="2" name="">
            <a:extLst xmlns:a="http://schemas.openxmlformats.org/drawingml/2006/main">
              <a:ext uri="{FF2B5EF4-FFF2-40B4-BE49-F238E27FC236}">
                <a16:creationId xmlns:a16="http://schemas.microsoft.com/office/drawing/2014/main" id="{0B4E3AEF-6D9F-422C-88CC-9786D9B052F0}"/>
              </a:ext>
            </a:extLst>
          </p:cNvPr>
          <p:cNvSpPr>
            <a:spLocks xmlns:a="http://schemas.openxmlformats.org/drawingml/2006/main" noGrp="1"/>
          </p:cNvSpPr>
          <p:nvPr/>
        </p:nvSpPr>
        <p:spPr>
          <a:xfrm xmlns:a="http://schemas.openxmlformats.org/drawingml/2006/main">
            <a:off x="666750" y="2647950"/>
            <a:ext cx="285750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위험 점수로</a:t>
            </a:r>
          </a:p>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대상 순위화</a:t>
            </a:r>
          </a:p>
        </p:txBody>
      </p:sp>
      <p:sp>
        <p:nvSpPr>
          <p:cNvPr id="3" name="">
            <a:extLst xmlns:a="http://schemas.openxmlformats.org/drawingml/2006/main">
              <a:ext uri="{FF2B5EF4-FFF2-40B4-BE49-F238E27FC236}">
                <a16:creationId xmlns:a16="http://schemas.microsoft.com/office/drawing/2014/main" id="{469BD2C9-EE9E-453C-A1F0-60EB5EE55EC1}"/>
              </a:ext>
            </a:extLst>
          </p:cNvPr>
          <p:cNvSpPr>
            <a:spLocks xmlns:a="http://schemas.openxmlformats.org/drawingml/2006/main" noGrp="1"/>
          </p:cNvSpPr>
          <p:nvPr/>
        </p:nvSpPr>
        <p:spPr>
          <a:xfrm xmlns:a="http://schemas.openxmlformats.org/drawingml/2006/main">
            <a:off x="3638550" y="3048000"/>
            <a:ext cx="733425" cy="45720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4" name="">
            <a:extLst xmlns:a="http://schemas.openxmlformats.org/drawingml/2006/main">
              <a:ext uri="{FF2B5EF4-FFF2-40B4-BE49-F238E27FC236}">
                <a16:creationId xmlns:a16="http://schemas.microsoft.com/office/drawing/2014/main" id="{C6E7D92C-BA0E-4597-9660-AEC08DAEF52B}"/>
              </a:ext>
            </a:extLst>
          </p:cNvPr>
          <p:cNvSpPr>
            <a:spLocks xmlns:a="http://schemas.openxmlformats.org/drawingml/2006/main" noGrp="1"/>
          </p:cNvSpPr>
          <p:nvPr/>
        </p:nvSpPr>
        <p:spPr>
          <a:xfrm xmlns:a="http://schemas.openxmlformats.org/drawingml/2006/main">
            <a:off x="4524375" y="2647950"/>
            <a:ext cx="314325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무작위 배정</a:t>
            </a:r>
          </a:p>
          <a:p xmlns:a="http://schemas.openxmlformats.org/drawingml/2006/main">
            <a:pPr algn="ctr">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캠페인 / 대조군</a:t>
            </a:r>
          </a:p>
        </p:txBody>
      </p:sp>
      <p:sp>
        <p:nvSpPr>
          <p:cNvPr id="5" name="">
            <a:extLst xmlns:a="http://schemas.openxmlformats.org/drawingml/2006/main">
              <a:ext uri="{FF2B5EF4-FFF2-40B4-BE49-F238E27FC236}">
                <a16:creationId xmlns:a16="http://schemas.microsoft.com/office/drawing/2014/main" id="{A54336B0-EAB7-4C77-8574-E50118A6DEE9}"/>
              </a:ext>
            </a:extLst>
          </p:cNvPr>
          <p:cNvSpPr>
            <a:spLocks xmlns:a="http://schemas.openxmlformats.org/drawingml/2006/main" noGrp="1"/>
          </p:cNvSpPr>
          <p:nvPr/>
        </p:nvSpPr>
        <p:spPr>
          <a:xfrm xmlns:a="http://schemas.openxmlformats.org/drawingml/2006/main">
            <a:off x="7781925" y="3048000"/>
            <a:ext cx="733425" cy="457200"/>
          </a:xfrm>
          <a:prstGeom xmlns:a="http://schemas.openxmlformats.org/drawingml/2006/main" prst="rightArrow">
            <a:avLst/>
          </a:prstGeom>
          <a:solidFill xmlns:a="http://schemas.openxmlformats.org/drawingml/2006/main">
            <a:srgbClr val="1769AA"/>
          </a:solidFill>
          <a:ln xmlns:a="http://schemas.openxmlformats.org/drawingml/2006/main" w="0">
            <a:solidFill>
              <a:srgbClr val="1769AA"/>
            </a:solidFill>
          </a:ln>
        </p:spPr>
      </p:sp>
      <p:sp>
        <p:nvSpPr>
          <p:cNvPr id="6" name="">
            <a:extLst xmlns:a="http://schemas.openxmlformats.org/drawingml/2006/main">
              <a:ext uri="{FF2B5EF4-FFF2-40B4-BE49-F238E27FC236}">
                <a16:creationId xmlns:a16="http://schemas.microsoft.com/office/drawing/2014/main" id="{BFB92BB8-719F-4AB6-B73B-38175B63EB46}"/>
              </a:ext>
            </a:extLst>
          </p:cNvPr>
          <p:cNvSpPr>
            <a:spLocks xmlns:a="http://schemas.openxmlformats.org/drawingml/2006/main" noGrp="1"/>
          </p:cNvSpPr>
          <p:nvPr/>
        </p:nvSpPr>
        <p:spPr>
          <a:xfrm xmlns:a="http://schemas.openxmlformats.org/drawingml/2006/main">
            <a:off x="8667750" y="2647950"/>
            <a:ext cx="285750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1769AA"/>
            </a:solid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유지율과 비용</a:t>
            </a:r>
          </a:p>
          <a:p xmlns:a="http://schemas.openxmlformats.org/drawingml/2006/main">
            <a:pPr algn="ctr">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차이 비교</a:t>
            </a:r>
          </a:p>
        </p:txBody>
      </p:sp>
      <p:sp>
        <p:nvSpPr>
          <p:cNvPr id="7" name="">
            <a:extLst xmlns:a="http://schemas.openxmlformats.org/drawingml/2006/main">
              <a:ext uri="{FF2B5EF4-FFF2-40B4-BE49-F238E27FC236}">
                <a16:creationId xmlns:a16="http://schemas.microsoft.com/office/drawing/2014/main" id="{33427AF2-EA2D-4A91-A809-706646A6F526}"/>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19</a:t>
            </a:r>
          </a:p>
        </p:txBody>
      </p:sp>
    </p:spTree>
    <p:extLst>
      <p:ext uri="{BB962C8B-B14F-4D97-AF65-F5344CB8AC3E}">
        <p14:creationId xmlns:p14="http://schemas.microsoft.com/office/powerpoint/2010/main" val="9178252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0D3E95-BFC3-4C5C-B663-E85D342D6902}"/>
              </a:ext>
            </a:extLst>
          </p:cNvPr>
          <p:cNvSpPr>
            <a:spLocks xmlns:a="http://schemas.openxmlformats.org/drawingml/2006/main" noGrp="1"/>
          </p:cNvSpPr>
          <p:nvPr/>
        </p:nvSpPr>
        <p:spPr>
          <a:xfrm xmlns:a="http://schemas.openxmlformats.org/drawingml/2006/main">
            <a:off x="742950" y="514350"/>
            <a:ext cx="1070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111111"/>
                </a:solidFill>
                <a:latin typeface="Malgun Gothic"/>
                <a:ea typeface="Malgun Gothic"/>
                <a:cs typeface="Malgun Gothic"/>
              </a:defRPr>
            </a:pPr>
            <a:r>
              <a:rPr sz="2775" b="1">
                <a:solidFill>
                  <a:srgbClr val="111111"/>
                </a:solidFill>
                <a:latin typeface="Malgun Gothic"/>
                <a:ea typeface="Malgun Gothic"/>
                <a:cs typeface="Malgun Gothic"/>
              </a:rPr>
              <a:t>이탈 예측을 의사결정으로 연결</a:t>
            </a:r>
          </a:p>
        </p:txBody>
      </p:sp>
      <p:sp>
        <p:nvSpPr>
          <p:cNvPr id="2" name="">
            <a:extLst xmlns:a="http://schemas.openxmlformats.org/drawingml/2006/main">
              <a:ext uri="{FF2B5EF4-FFF2-40B4-BE49-F238E27FC236}">
                <a16:creationId xmlns:a16="http://schemas.microsoft.com/office/drawing/2014/main" id="{4735124D-1AC6-43E2-AE2D-808B6DAA2533}"/>
              </a:ext>
            </a:extLst>
          </p:cNvPr>
          <p:cNvSpPr>
            <a:spLocks xmlns:a="http://schemas.openxmlformats.org/drawingml/2006/main" noGrp="1"/>
          </p:cNvSpPr>
          <p:nvPr/>
        </p:nvSpPr>
        <p:spPr>
          <a:xfrm xmlns:a="http://schemas.openxmlformats.org/drawingml/2006/main">
            <a:off x="1066800" y="2000250"/>
            <a:ext cx="10058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111111"/>
                </a:solidFill>
                <a:latin typeface="Malgun Gothic"/>
                <a:ea typeface="Malgun Gothic"/>
                <a:cs typeface="Malgun Gothic"/>
              </a:defRPr>
            </a:pPr>
            <a:r>
              <a:rPr sz="3525" b="1">
                <a:solidFill>
                  <a:srgbClr val="111111"/>
                </a:solidFill>
                <a:latin typeface="Malgun Gothic"/>
                <a:ea typeface="Malgun Gothic"/>
                <a:cs typeface="Malgun Gothic"/>
              </a:rPr>
              <a:t>대상 정의부터 실험까지</a:t>
            </a:r>
          </a:p>
        </p:txBody>
      </p:sp>
      <p:sp>
        <p:nvSpPr>
          <p:cNvPr id="3" name="">
            <a:extLst xmlns:a="http://schemas.openxmlformats.org/drawingml/2006/main">
              <a:ext uri="{FF2B5EF4-FFF2-40B4-BE49-F238E27FC236}">
                <a16:creationId xmlns:a16="http://schemas.microsoft.com/office/drawing/2014/main" id="{5843FC85-F87E-4DE9-9203-6B80ED127292}"/>
              </a:ext>
            </a:extLst>
          </p:cNvPr>
          <p:cNvSpPr>
            <a:spLocks xmlns:a="http://schemas.openxmlformats.org/drawingml/2006/main" noGrp="1"/>
          </p:cNvSpPr>
          <p:nvPr/>
        </p:nvSpPr>
        <p:spPr>
          <a:xfrm xmlns:a="http://schemas.openxmlformats.org/drawingml/2006/main">
            <a:off x="1085850" y="3600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무엇을 이탈로 볼지 정하고</a:t>
            </a:r>
          </a:p>
          <a:p xmlns:a="http://schemas.openxmlformats.org/drawingml/2006/main">
            <a:pPr algn="l">
              <a:defRPr sz="2325" b="0">
                <a:solidFill>
                  <a:srgbClr val="111111"/>
                </a:solidFill>
                <a:latin typeface="Malgun Gothic"/>
                <a:ea typeface="Malgun Gothic"/>
                <a:cs typeface="Malgun Gothic"/>
              </a:defRPr>
            </a:pPr>
            <a:r>
              <a:rPr sz="2325" b="0">
                <a:solidFill>
                  <a:srgbClr val="111111"/>
                </a:solidFill>
                <a:latin typeface="Malgun Gothic"/>
                <a:ea typeface="Malgun Gothic"/>
                <a:cs typeface="Malgun Gothic"/>
              </a:rPr>
              <a:t>개입 효과를 데이터로 확인합니다</a:t>
            </a:r>
          </a:p>
        </p:txBody>
      </p:sp>
      <p:sp>
        <p:nvSpPr>
          <p:cNvPr id="4" name="">
            <a:extLst xmlns:a="http://schemas.openxmlformats.org/drawingml/2006/main">
              <a:ext uri="{FF2B5EF4-FFF2-40B4-BE49-F238E27FC236}">
                <a16:creationId xmlns:a16="http://schemas.microsoft.com/office/drawing/2014/main" id="{B00A0F2A-B595-4C25-8182-2AD8E2F86110}"/>
              </a:ext>
            </a:extLst>
          </p:cNvPr>
          <p:cNvSpPr>
            <a:spLocks xmlns:a="http://schemas.openxmlformats.org/drawingml/2006/main" noGrp="1"/>
          </p:cNvSpPr>
          <p:nvPr/>
        </p:nvSpPr>
        <p:spPr>
          <a:xfrm xmlns:a="http://schemas.openxmlformats.org/drawingml/2006/main">
            <a:off x="1085850" y="55721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F5F5F"/>
                </a:solidFill>
                <a:latin typeface="Malgun Gothic"/>
                <a:ea typeface="Malgun Gothic"/>
                <a:cs typeface="Malgun Gothic"/>
              </a:defRPr>
            </a:pPr>
            <a:r>
              <a:rPr sz="1500" b="0">
                <a:solidFill>
                  <a:srgbClr val="5F5F5F"/>
                </a:solidFill>
                <a:latin typeface="Malgun Gothic"/>
                <a:ea typeface="Malgun Gothic"/>
                <a:cs typeface="Malgun Gothic"/>
              </a:rPr>
              <a:t>우리 프로젝트는 첫 모델 검증 단계까지 진행했습니다</a:t>
            </a:r>
          </a:p>
        </p:txBody>
      </p:sp>
      <p:sp>
        <p:nvSpPr>
          <p:cNvPr id="5" name="">
            <a:extLst xmlns:a="http://schemas.openxmlformats.org/drawingml/2006/main">
              <a:ext uri="{FF2B5EF4-FFF2-40B4-BE49-F238E27FC236}">
                <a16:creationId xmlns:a16="http://schemas.microsoft.com/office/drawing/2014/main" id="{F894EAF1-9A40-4CD6-9C94-3608677B5414}"/>
              </a:ext>
            </a:extLst>
          </p:cNvPr>
          <p:cNvSpPr>
            <a:spLocks xmlns:a="http://schemas.openxmlformats.org/drawingml/2006/main" noGrp="1"/>
          </p:cNvSpPr>
          <p:nvPr/>
        </p:nvSpPr>
        <p:spPr>
          <a:xfrm xmlns:a="http://schemas.openxmlformats.org/drawingml/2006/main">
            <a:off x="10953750" y="6134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r">
              <a:defRPr sz="1275" b="0">
                <a:solidFill>
                  <a:srgbClr val="5F5F5F"/>
                </a:solidFill>
                <a:latin typeface="Malgun Gothic"/>
                <a:ea typeface="Malgun Gothic"/>
                <a:cs typeface="Malgun Gothic"/>
              </a:defRPr>
            </a:pPr>
            <a:r>
              <a:rPr sz="1275" b="0">
                <a:solidFill>
                  <a:srgbClr val="5F5F5F"/>
                </a:solidFill>
                <a:latin typeface="Malgun Gothic"/>
                <a:ea typeface="Malgun Gothic"/>
                <a:cs typeface="Malgun Gothic"/>
              </a:rPr>
              <a:t>20</a:t>
            </a:r>
          </a:p>
        </p:txBody>
      </p:sp>
    </p:spTree>
    <p:extLst>
      <p:ext uri="{BB962C8B-B14F-4D97-AF65-F5344CB8AC3E}">
        <p14:creationId xmlns:p14="http://schemas.microsoft.com/office/powerpoint/2010/main" val="2223697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2026-09-27T19:35:25.5070000Z</dcterms:created>
  <dcterms:modified xsi:type="dcterms:W3CDTF">2026-09-27T19:35:25.5070000Z</dcterms:modified>
</coreProperties>
</file>