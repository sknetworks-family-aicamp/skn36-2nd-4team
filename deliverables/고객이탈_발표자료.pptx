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91be3184154a72" /><Relationship Type="http://schemas.openxmlformats.org/officeDocument/2006/relationships/extended-properties" Target="/docProps/app.xml" Id="R70826e8412494a92" /><Relationship Type="http://schemas.openxmlformats.org/officeDocument/2006/relationships/officeDocument" Target="/ppt/presentation.xml" Id="R7f4a5396717b4f2f" /></Relationships>
</file>

<file path=ppt/presentation.xml><?xml version="1.0" encoding="utf-8"?>
<p:presentation xmlns:p="http://schemas.openxmlformats.org/presentationml/2006/main">
  <p:sldMasterIdLst>
    <p:sldMasterId xmlns:r="http://schemas.openxmlformats.org/officeDocument/2006/relationships" id="2147483648" r:id="Reee48f786779430e"/>
  </p:sldMasterIdLst>
  <p:notesMasterIdLst>
    <p:notesMasterId xmlns:r="http://schemas.openxmlformats.org/officeDocument/2006/relationships" r:id="R159d20d9374e4bb7"/>
  </p:notesMasterIdLst>
  <p:sldIdLst>
    <p:sldId xmlns:r="http://schemas.openxmlformats.org/officeDocument/2006/relationships" id="256" r:id="Rc9656fd41b9a4a35"/>
    <p:sldId xmlns:r="http://schemas.openxmlformats.org/officeDocument/2006/relationships" id="257" r:id="Ra61cda7489e44cc0"/>
    <p:sldId xmlns:r="http://schemas.openxmlformats.org/officeDocument/2006/relationships" id="258" r:id="R5eb134b607084b37"/>
    <p:sldId xmlns:r="http://schemas.openxmlformats.org/officeDocument/2006/relationships" id="259" r:id="Rf2c2b000ca344d56"/>
    <p:sldId xmlns:r="http://schemas.openxmlformats.org/officeDocument/2006/relationships" id="260" r:id="Rcf616fe03e904ce2"/>
    <p:sldId xmlns:r="http://schemas.openxmlformats.org/officeDocument/2006/relationships" id="261" r:id="Rc4b13104eed94a4c"/>
    <p:sldId xmlns:r="http://schemas.openxmlformats.org/officeDocument/2006/relationships" id="262" r:id="R6abbcdf628234639"/>
    <p:sldId xmlns:r="http://schemas.openxmlformats.org/officeDocument/2006/relationships" id="263" r:id="R9e4e0d325f904793"/>
    <p:sldId xmlns:r="http://schemas.openxmlformats.org/officeDocument/2006/relationships" id="264" r:id="Rda4c29019cab41fb"/>
    <p:sldId xmlns:r="http://schemas.openxmlformats.org/officeDocument/2006/relationships" id="265" r:id="R934d756fe4da4b38"/>
    <p:sldId xmlns:r="http://schemas.openxmlformats.org/officeDocument/2006/relationships" id="266" r:id="R9f256d7a701245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20ca65b00e4f56" /><Relationship Type="http://schemas.openxmlformats.org/officeDocument/2006/relationships/slideMaster" Target="/ppt/slideMasters/slideMaster1.xml" Id="Reee48f786779430e" /><Relationship Type="http://schemas.openxmlformats.org/officeDocument/2006/relationships/notesMaster" Target="/ppt/notesMasters/notesMaster1.xml" Id="R159d20d9374e4bb7" /><Relationship Type="http://schemas.openxmlformats.org/officeDocument/2006/relationships/presProps" Target="/ppt/presProps.xml" Id="Rae412c874bbd4a74" /><Relationship Type="http://schemas.openxmlformats.org/officeDocument/2006/relationships/tableStyles" Target="/ppt/tableStyles.xml" Id="R54dcfb327ca54a5c" /><Relationship Type="http://schemas.openxmlformats.org/officeDocument/2006/relationships/slide" Target="/ppt/slides/slide1.xml" Id="Rc9656fd41b9a4a35" /><Relationship Type="http://schemas.openxmlformats.org/officeDocument/2006/relationships/slide" Target="/ppt/slides/slide2.xml" Id="Ra61cda7489e44cc0" /><Relationship Type="http://schemas.openxmlformats.org/officeDocument/2006/relationships/slide" Target="/ppt/slides/slide3.xml" Id="R5eb134b607084b37" /><Relationship Type="http://schemas.openxmlformats.org/officeDocument/2006/relationships/slide" Target="/ppt/slides/slide4.xml" Id="Rf2c2b000ca344d56" /><Relationship Type="http://schemas.openxmlformats.org/officeDocument/2006/relationships/slide" Target="/ppt/slides/slide5.xml" Id="Rcf616fe03e904ce2" /><Relationship Type="http://schemas.openxmlformats.org/officeDocument/2006/relationships/slide" Target="/ppt/slides/slide6.xml" Id="Rc4b13104eed94a4c" /><Relationship Type="http://schemas.openxmlformats.org/officeDocument/2006/relationships/slide" Target="/ppt/slides/slide7.xml" Id="R6abbcdf628234639" /><Relationship Type="http://schemas.openxmlformats.org/officeDocument/2006/relationships/slide" Target="/ppt/slides/slide8.xml" Id="R9e4e0d325f904793" /><Relationship Type="http://schemas.openxmlformats.org/officeDocument/2006/relationships/slide" Target="/ppt/slides/slide9.xml" Id="Rda4c29019cab41fb" /><Relationship Type="http://schemas.openxmlformats.org/officeDocument/2006/relationships/slide" Target="/ppt/slides/slide10.xml" Id="R934d756fe4da4b38" /><Relationship Type="http://schemas.openxmlformats.org/officeDocument/2006/relationships/slide" Target="/ppt/slides/slide11.xml" Id="R9f256d7a701245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691727e08d40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35f03e5d2043c0" /><Relationship Type="http://schemas.openxmlformats.org/officeDocument/2006/relationships/notesMaster" Target="/ppt/notesMasters/notesMaster1.xml" Id="Rb227e20f652a4b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5fb9194bf3441f" /><Relationship Type="http://schemas.openxmlformats.org/officeDocument/2006/relationships/notesMaster" Target="/ppt/notesMasters/notesMaster1.xml" Id="R8ceb1bfdef0e42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0aab4f14da47b7" /><Relationship Type="http://schemas.openxmlformats.org/officeDocument/2006/relationships/notesMaster" Target="/ppt/notesMasters/notesMaster1.xml" Id="Rc4000a40e6064d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a80d8d7c354dc7" /><Relationship Type="http://schemas.openxmlformats.org/officeDocument/2006/relationships/notesMaster" Target="/ppt/notesMasters/notesMaster1.xml" Id="R12e0931acad946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9bc5401a274185" /><Relationship Type="http://schemas.openxmlformats.org/officeDocument/2006/relationships/notesMaster" Target="/ppt/notesMasters/notesMaster1.xml" Id="R1001cad55b1b45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6f35f043da43a1" /><Relationship Type="http://schemas.openxmlformats.org/officeDocument/2006/relationships/notesMaster" Target="/ppt/notesMasters/notesMaster1.xml" Id="Rd281023070804e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08e37665cf440a" /><Relationship Type="http://schemas.openxmlformats.org/officeDocument/2006/relationships/notesMaster" Target="/ppt/notesMasters/notesMaster1.xml" Id="Re7fef16555434e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619a602d404720" /><Relationship Type="http://schemas.openxmlformats.org/officeDocument/2006/relationships/notesMaster" Target="/ppt/notesMasters/notesMaster1.xml" Id="R970f80a1c00f4c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79d1882b3648ea" /><Relationship Type="http://schemas.openxmlformats.org/officeDocument/2006/relationships/notesMaster" Target="/ppt/notesMasters/notesMaster1.xml" Id="R2a636a6173ed42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76274007f649f5" /><Relationship Type="http://schemas.openxmlformats.org/officeDocument/2006/relationships/notesMaster" Target="/ppt/notesMasters/notesMaster1.xml" Id="R250dc86e47c04e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de3a38fc174f19" /><Relationship Type="http://schemas.openxmlformats.org/officeDocument/2006/relationships/notesMaster" Target="/ppt/notesMasters/notesMaster1.xml" Id="R9146cbabd9254c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발표를 시작하며 프로젝트의 범위를 소개합니다. 목표는 계정 탈퇴를 맞히는 것이 아니라, 일정 기간 게임 기록이 끊길 위험을 찾아 리텐션 의사결정에 참고하는 것입니다.</a:t>
            </a:r>
          </a:p>
          <a:p xmlns:a="http://schemas.openxmlformats.org/drawingml/2006/main">
            <a:r>
              <a:t>출처: 고객이탈 발표.txt, ML_MODEL_REPORT.md,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원고처럼 게임 서비스는 계정이 남아 있어도 실질적인 이용이 끝날 수 있습니다. 다만 이 프로젝트에는 로그인·탈퇴 데이터가 없으므로 계정 탈퇴를 이탈로 판단하지 않습니다. 관측 가능한 경기 기록을 기준으로 대상을 정의했습니다. 실제 기업 적용에서는 게임 업데이트 주기, 복귀율, 운영 목표를 반영해 휴면 기간을 정해야 합니다.</a:t>
            </a:r>
          </a:p>
          <a:p xmlns:a="http://schemas.openxmlformats.org/drawingml/2006/main">
            <a:r>
              <a:t>출처: 고객이탈 발표.txt,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수집 사용자 가운데 정책 기준을 충족한 2,381명을 이번 예측 모집단으로 삼았습니다. 이전 30일의 최소 플레이 기준과 최근 30일의 현재 활동 기준을 함께 적용했습니다. 이를 편의상 진성 고객으로 부르는 경우가 있지만, 데이터만으로 장기 충성도나 봇·악성 이용자를 확인한 것은 아닙니다. 발표에서는 잠정 활동 고객군이라고 설명하는 편이 정확합니다.</a:t>
            </a:r>
          </a:p>
          <a:p xmlns:a="http://schemas.openxmlformats.org/drawingml/2006/main">
            <a:r>
              <a:t>출처: CORE_COHORT_POLICY.md,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기준일은 2026년 8월 1일 00시 UTC입니다. 기준일 전 정보로 사용자군과 입력 피처를 만들고, 기준일 이후 30일은 정답을 확인하는 데만 사용했습니다. 즉 학습 과정에서 미래 기록이 입력으로 섞이지 않도록 나누었습니다. 여기서 churn=1은 이후 30일간 경기 기록이 없다는 뜻입니다.</a:t>
            </a:r>
          </a:p>
          <a:p xmlns:a="http://schemas.openxmlformats.org/drawingml/2006/main">
            <a:r>
              <a:t>출처: CORE_COHORT_POLICY.md,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33개 기준 집계 피처를 사용한 CatBoost와 경기 시퀀스에서 만든 13개 파생 피처를 더한 CatBoost를 비교했습니다. 최근 5경기와 이전 5경기의 승률·KDA 차이, 마지막 연승·연패 길이와 솔로랭크 기록을 포함했습니다. 클래스 가중치나 ROS·SMOTE는 적용하지 않았고, 5-fold 계층 교차검증을 사용했습니다.</a:t>
            </a:r>
          </a:p>
          <a:p xmlns:a="http://schemas.openxmlformats.org/drawingml/2006/main">
            <a:r>
              <a:t>출처: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PR-AUC는 이탈 비율이 15.25%인 불균형 데이터에서 위험 순위가 이탈자를 얼마나 잘 앞쪽에 모으는지 보는 지표입니다. ROC-AUC는 이탈자와 유지자의 전체 순위 분리 성능입니다. 상위 20% Recall 52.1%는 우선순위 상위 20%만 대응한다고 가정했을 때 전체 경기 중단자의 52.1%를 그 안에서 찾았다는 의미입니다. 모든 수치는 5개 fold의 out-of-fold 예측을 합친 결과이며, 다른 달 데이터로 검증한 것은 아닙니다.</a:t>
            </a:r>
          </a:p>
          <a:p xmlns:a="http://schemas.openxmlformats.org/drawingml/2006/main">
            <a:r>
              <a:t>출처: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캠페인 규모를 2,381명의 상위 20%로 가정하면 477명을 선택합니다. 이 중 실제로 이후 30일간 경기가 없었던 사용자는 189명으로 정밀도는 39.6%입니다. 이탈자 363명 가운데 189명을 찾았으므로 Recall은 52.1%입니다. 반대로 선택된 477명 중 288명은 이후에도 경기 기록이 있었습니다. 따라서 높은 위험 점수를 확정적인 이탈 확률이나 원인으로 표현하면 안 됩니다.</a:t>
            </a:r>
          </a:p>
          <a:p xmlns:a="http://schemas.openxmlformats.org/drawingml/2006/main">
            <a:r>
              <a:t>출처: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KDA와 승패 등 경기 순서 파생 피처를 더한 결과 전체 PR-AUC는 0.0007 증가했지만 상위 20% Recall은 오히려 0.3%p 낮아졌습니다. 솔로랭크 중심 사용자에서는 성능 개선을 확인하지 못했습니다. 이전 Transformer 실험에서도 다음 모드 예측은 직전 모드 반복 기준보다 낮았고, 다음 챔피언 예측도 사용자별 최빈 챔피언 기준보다 낮았습니다. 다만 Transformer 결과는 별도 탐색 실험이므로 현재 2,381명 모델과 직접 비교하지 않습니다.</a:t>
            </a:r>
          </a:p>
          <a:p xmlns:a="http://schemas.openxmlformats.org/drawingml/2006/main">
            <a:r>
              <a:t>출처: models/core_churn_2026-08-01/RESULTS.md, TRANSFORMER_EXPERIMENTS.md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모델 출력은 위험 순위를 정하는 데 사용합니다. 확률 보정을 확인하지 않았으므로 0.8을 실제 이탈 확률 80%라고 말할 수 없습니다. KDA 하락이나 경기 간격 증가는 위험 신호와 연관될 수 있지만 인과 원인이라는 뜻도 아닙니다. 어떤 캠페인이 효과가 있는지는 위험 사용자 일부를 무작위로 처리군과 대조군에 나누고, 이후 경기 수와 유지율, 비용을 비교해야 합니다.</a:t>
            </a:r>
          </a:p>
          <a:p xmlns:a="http://schemas.openxmlformats.org/drawingml/2006/main">
            <a:r>
              <a:t>출처: models/core_churn_2026-08-01/RESULTS.md, 고객이탈 발표.txt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화면의 생존분석 확장 화면은 합성 데이터 기반 개념 데모입니다. 표시되는 7일·14일·30일 수치는 실제 사용자에게서 학습하거나 검증한 예측값으로 발표하면 안 됩니다. 생존분석은 이벤트까지 걸리는 시간과 관찰 종료 시점의 검열을 다루지만, 이번 단일 기준일 데이터로 신뢰할 만한 개별 생존 확률을 주장할 수 없습니다. 실제 도입을 위해서는 여러 기준일의 경기 기록과 추적 기간이 필요합니다.</a:t>
            </a:r>
          </a:p>
          <a:p xmlns:a="http://schemas.openxmlformats.org/drawingml/2006/main">
            <a:r>
              <a:t>출처: CORE_COHORT_POLICY.md, React 앱의 합성 생존분석 데모 설명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마무리로 현재 프로젝트의 성과와 한계를 함께 말합니다. 활동 고객군을 명시하고 CatBoost를 비교 검증했지만, 데이터는 한 기준일의 표본이라 미래 일반화 성능은 확인하지 못했습니다. 다음에는 새로운 기간으로 시간 분할 검증하고, 점수의 확률 보정을 확인해야 합니다. 그 다음 소규모 무작위 캠페인으로 유지율과 비용을 비교해야 실제 ROI를 말할 수 있습니다.</a:t>
            </a:r>
          </a:p>
          <a:p xmlns:a="http://schemas.openxmlformats.org/drawingml/2006/main">
            <a:r>
              <a:t>출처: models/core_churn_2026-08-01/RESULTS.md,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8cd4c0e28e4f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2b15daa6954a82" /><Relationship Type="http://schemas.openxmlformats.org/officeDocument/2006/relationships/slideLayout" Target="/ppt/slideLayouts/slideLayout1.xml" Id="Rfa9bf068f88541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9bf068f88541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87f9966bfd4a34" /><Relationship Type="http://schemas.openxmlformats.org/officeDocument/2006/relationships/notesSlide" Target="/ppt/notesSlides/notesSlide1.xml" Id="R0d2459d211d54e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ad9258eb5948b6" /><Relationship Type="http://schemas.openxmlformats.org/officeDocument/2006/relationships/notesSlide" Target="/ppt/notesSlides/notesSlide2.xml" Id="Rac80f57257df4c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4e1dbcf91d42a8" /><Relationship Type="http://schemas.openxmlformats.org/officeDocument/2006/relationships/notesSlide" Target="/ppt/notesSlides/notesSlide3.xml" Id="R3cc957cfa0c94d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5d1030fe5240ab" /><Relationship Type="http://schemas.openxmlformats.org/officeDocument/2006/relationships/notesSlide" Target="/ppt/notesSlides/notesSlide4.xml" Id="R5d1e64f06adc4c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bf3c23ab914193" /><Relationship Type="http://schemas.openxmlformats.org/officeDocument/2006/relationships/notesSlide" Target="/ppt/notesSlides/notesSlide5.xml" Id="R5bcb0fe8f9074d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96e06116514b88" /><Relationship Type="http://schemas.openxmlformats.org/officeDocument/2006/relationships/notesSlide" Target="/ppt/notesSlides/notesSlide6.xml" Id="R9de063d3bcd545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0e63493bdd4dfb" /><Relationship Type="http://schemas.openxmlformats.org/officeDocument/2006/relationships/notesSlide" Target="/ppt/notesSlides/notesSlide7.xml" Id="R61aca4edc6154e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2401ca09104849" /><Relationship Type="http://schemas.openxmlformats.org/officeDocument/2006/relationships/notesSlide" Target="/ppt/notesSlides/notesSlide8.xml" Id="R80672e8a708643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b013fca6454194" /><Relationship Type="http://schemas.openxmlformats.org/officeDocument/2006/relationships/notesSlide" Target="/ppt/notesSlides/notesSlide9.xml" Id="R258757f68d8b4f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56e6cee85041bb" /><Relationship Type="http://schemas.openxmlformats.org/officeDocument/2006/relationships/notesSlide" Target="/ppt/notesSlides/notesSlide10.xml" Id="Ra0cfb42233064c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2c8363563f415b" /><Relationship Type="http://schemas.openxmlformats.org/officeDocument/2006/relationships/notesSlide" Target="/ppt/notesSlides/notesSlide11.xml" Id="R1039cdd0725d434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45E3085-DA64-4356-AE91-DB48ECF6E355}"/>
              </a:ext>
            </a:extLst>
          </p:cNvPr>
          <p:cNvSpPr>
            <a:spLocks xmlns:a="http://schemas.openxmlformats.org/drawingml/2006/main" noGrp="1"/>
          </p:cNvSpPr>
          <p:nvPr/>
        </p:nvSpPr>
        <p:spPr>
          <a:xfrm xmlns:a="http://schemas.openxmlformats.org/drawingml/2006/main">
            <a:off x="914400" y="2000250"/>
            <a:ext cx="10363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111111"/>
                </a:solidFill>
                <a:latin typeface="Malgun Gothic"/>
                <a:ea typeface="Malgun Gothic"/>
                <a:cs typeface="Malgun Gothic"/>
              </a:defRPr>
            </a:pPr>
            <a:r>
              <a:rPr sz="4050" b="1">
                <a:solidFill>
                  <a:srgbClr val="111111"/>
                </a:solidFill>
                <a:latin typeface="Malgun Gothic"/>
                <a:ea typeface="Malgun Gothic"/>
                <a:cs typeface="Malgun Gothic"/>
              </a:rPr>
              <a:t>게임 이용 기록으로 보는 고객 이탈</a:t>
            </a:r>
          </a:p>
        </p:txBody>
      </p:sp>
      <p:sp>
        <p:nvSpPr>
          <p:cNvPr id="2" name="">
            <a:extLst xmlns:a="http://schemas.openxmlformats.org/drawingml/2006/main">
              <a:ext uri="{FF2B5EF4-FFF2-40B4-BE49-F238E27FC236}">
                <a16:creationId xmlns:a16="http://schemas.microsoft.com/office/drawing/2014/main" id="{83481E29-BBA1-430B-BFBC-3721EE25E622}"/>
              </a:ext>
            </a:extLst>
          </p:cNvPr>
          <p:cNvSpPr>
            <a:spLocks xmlns:a="http://schemas.openxmlformats.org/drawingml/2006/main" noGrp="1"/>
          </p:cNvSpPr>
          <p:nvPr/>
        </p:nvSpPr>
        <p:spPr>
          <a:xfrm xmlns:a="http://schemas.openxmlformats.org/drawingml/2006/main">
            <a:off x="952500" y="32766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누구를 대상으로, 무엇을 이탈로 볼 것인가</a:t>
            </a:r>
          </a:p>
        </p:txBody>
      </p:sp>
      <p:sp>
        <p:nvSpPr>
          <p:cNvPr id="3" name="">
            <a:extLst xmlns:a="http://schemas.openxmlformats.org/drawingml/2006/main">
              <a:ext uri="{FF2B5EF4-FFF2-40B4-BE49-F238E27FC236}">
                <a16:creationId xmlns:a16="http://schemas.microsoft.com/office/drawing/2014/main" id="{798A5076-D655-482B-9BAB-605420D8A621}"/>
              </a:ext>
            </a:extLst>
          </p:cNvPr>
          <p:cNvSpPr>
            <a:spLocks xmlns:a="http://schemas.openxmlformats.org/drawingml/2006/main" noGrp="1"/>
          </p:cNvSpPr>
          <p:nvPr/>
        </p:nvSpPr>
        <p:spPr>
          <a:xfrm xmlns:a="http://schemas.openxmlformats.org/drawingml/2006/main">
            <a:off x="952500" y="571500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11111"/>
                </a:solidFill>
                <a:latin typeface="Malgun Gothic"/>
                <a:ea typeface="Malgun Gothic"/>
                <a:cs typeface="Malgun Gothic"/>
              </a:defRPr>
            </a:pPr>
            <a:r>
              <a:rPr sz="1350" b="0">
                <a:solidFill>
                  <a:srgbClr val="111111"/>
                </a:solidFill>
                <a:latin typeface="Malgun Gothic"/>
                <a:ea typeface="Malgun Gothic"/>
                <a:cs typeface="Malgun Gothic"/>
              </a:rPr>
              <a:t>리그 오브 레전드 경기 기록 분석</a:t>
            </a:r>
          </a:p>
        </p:txBody>
      </p:sp>
    </p:spTree>
    <p:extLst>
      <p:ext uri="{BB962C8B-B14F-4D97-AF65-F5344CB8AC3E}">
        <p14:creationId xmlns:p14="http://schemas.microsoft.com/office/powerpoint/2010/main" val="3863631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8FD03BC-6031-40B0-A1B7-31907D1A7059}"/>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02  이탈은 먼저 정의해야 합니다</a:t>
            </a:r>
          </a:p>
        </p:txBody>
      </p:sp>
      <p:sp>
        <p:nvSpPr>
          <p:cNvPr id="2" name="">
            <a:extLst xmlns:a="http://schemas.openxmlformats.org/drawingml/2006/main">
              <a:ext uri="{FF2B5EF4-FFF2-40B4-BE49-F238E27FC236}">
                <a16:creationId xmlns:a16="http://schemas.microsoft.com/office/drawing/2014/main" id="{B3B9346A-CBA0-41AE-AEDE-D489A387CC3F}"/>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계정 탈퇴 대신</a:t>
            </a:r>
          </a:p>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경기 기록의 장기 중단을 관찰</a:t>
            </a:r>
          </a:p>
        </p:txBody>
      </p:sp>
      <p:sp>
        <p:nvSpPr>
          <p:cNvPr id="3" name="">
            <a:extLst xmlns:a="http://schemas.openxmlformats.org/drawingml/2006/main">
              <a:ext uri="{FF2B5EF4-FFF2-40B4-BE49-F238E27FC236}">
                <a16:creationId xmlns:a16="http://schemas.microsoft.com/office/drawing/2014/main" id="{A41EE321-BD16-43C8-A849-E26963F015A7}"/>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짧은 공백은 오탐, 긴 공백은 늦은 대응</a:t>
            </a:r>
          </a:p>
        </p:txBody>
      </p:sp>
    </p:spTree>
    <p:extLst>
      <p:ext uri="{BB962C8B-B14F-4D97-AF65-F5344CB8AC3E}">
        <p14:creationId xmlns:p14="http://schemas.microsoft.com/office/powerpoint/2010/main" val="20957505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FFCB0D-AAC2-48DB-B6C7-8FF8564CB981}"/>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03  분석 대상은 2,381명입니다</a:t>
            </a:r>
          </a:p>
        </p:txBody>
      </p:sp>
      <p:sp>
        <p:nvSpPr>
          <p:cNvPr id="2" name="">
            <a:extLst xmlns:a="http://schemas.openxmlformats.org/drawingml/2006/main">
              <a:ext uri="{FF2B5EF4-FFF2-40B4-BE49-F238E27FC236}">
                <a16:creationId xmlns:a16="http://schemas.microsoft.com/office/drawing/2014/main" id="{039982CE-0CE2-498A-8033-5B1EF9A537F6}"/>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수집 사용자 9,879명</a:t>
            </a:r>
          </a:p>
        </p:txBody>
      </p:sp>
      <p:sp>
        <p:nvSpPr>
          <p:cNvPr id="3" name="">
            <a:extLst xmlns:a="http://schemas.openxmlformats.org/drawingml/2006/main">
              <a:ext uri="{FF2B5EF4-FFF2-40B4-BE49-F238E27FC236}">
                <a16:creationId xmlns:a16="http://schemas.microsoft.com/office/drawing/2014/main" id="{5396CDC7-3B7C-4EF5-9155-29FFC965A7C7}"/>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이전 30일 4경기 이상</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최근 30일 1경기 이상</a:t>
            </a:r>
          </a:p>
        </p:txBody>
      </p:sp>
      <p:sp>
        <p:nvSpPr>
          <p:cNvPr id="4" name="">
            <a:extLst xmlns:a="http://schemas.openxmlformats.org/drawingml/2006/main">
              <a:ext uri="{FF2B5EF4-FFF2-40B4-BE49-F238E27FC236}">
                <a16:creationId xmlns:a16="http://schemas.microsoft.com/office/drawing/2014/main" id="{14620387-8B23-48CD-A229-D86DE257CC12}"/>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잠정 활동 고객군 · 충성도나 봇 여부를 판정한 결과는 아님</a:t>
            </a:r>
          </a:p>
        </p:txBody>
      </p:sp>
    </p:spTree>
    <p:extLst>
      <p:ext uri="{BB962C8B-B14F-4D97-AF65-F5344CB8AC3E}">
        <p14:creationId xmlns:p14="http://schemas.microsoft.com/office/powerpoint/2010/main" val="8575748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B2CBD6-43E1-4806-9BB4-E7B5978F4E07}"/>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04  기준일을 두고 과거와 미래를 나눴습니다</a:t>
            </a:r>
          </a:p>
        </p:txBody>
      </p:sp>
      <p:sp>
        <p:nvSpPr>
          <p:cNvPr id="2" name="">
            <a:extLst xmlns:a="http://schemas.openxmlformats.org/drawingml/2006/main">
              <a:ext uri="{FF2B5EF4-FFF2-40B4-BE49-F238E27FC236}">
                <a16:creationId xmlns:a16="http://schemas.microsoft.com/office/drawing/2014/main" id="{7D55C79C-883A-4401-BC54-80C4454AF6D3}"/>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2026.08.01 기준</a:t>
            </a:r>
          </a:p>
        </p:txBody>
      </p:sp>
      <p:sp>
        <p:nvSpPr>
          <p:cNvPr id="3" name="">
            <a:extLst xmlns:a="http://schemas.openxmlformats.org/drawingml/2006/main">
              <a:ext uri="{FF2B5EF4-FFF2-40B4-BE49-F238E27FC236}">
                <a16:creationId xmlns:a16="http://schemas.microsoft.com/office/drawing/2014/main" id="{1D3CE1F9-9B6F-4DE1-B113-FBEA0F76589D}"/>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이전 30일: 입력 정보</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이후 30일: 경기 중단 여부 확인</a:t>
            </a:r>
          </a:p>
        </p:txBody>
      </p:sp>
      <p:sp>
        <p:nvSpPr>
          <p:cNvPr id="4" name="">
            <a:extLst xmlns:a="http://schemas.openxmlformats.org/drawingml/2006/main">
              <a:ext uri="{FF2B5EF4-FFF2-40B4-BE49-F238E27FC236}">
                <a16:creationId xmlns:a16="http://schemas.microsoft.com/office/drawing/2014/main" id="{73CD2461-5E31-42DD-80F0-4A6B88358890}"/>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이후 30일 모든 모드에서 경기 0회면 중단으로 정의</a:t>
            </a:r>
          </a:p>
        </p:txBody>
      </p:sp>
    </p:spTree>
    <p:extLst>
      <p:ext uri="{BB962C8B-B14F-4D97-AF65-F5344CB8AC3E}">
        <p14:creationId xmlns:p14="http://schemas.microsoft.com/office/powerpoint/2010/main" val="21459991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F7AEEC-FF1C-4149-9F57-1956B4EF6F25}"/>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05  비교한 모델은 CatBoost 두 가지입니다</a:t>
            </a:r>
          </a:p>
        </p:txBody>
      </p:sp>
      <p:sp>
        <p:nvSpPr>
          <p:cNvPr id="2" name="">
            <a:extLst xmlns:a="http://schemas.openxmlformats.org/drawingml/2006/main">
              <a:ext uri="{FF2B5EF4-FFF2-40B4-BE49-F238E27FC236}">
                <a16:creationId xmlns:a16="http://schemas.microsoft.com/office/drawing/2014/main" id="{1F132D44-2001-4F0F-B7B2-15DFDE8E6405}"/>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기본 집계 피처 33개</a:t>
            </a:r>
          </a:p>
        </p:txBody>
      </p:sp>
      <p:sp>
        <p:nvSpPr>
          <p:cNvPr id="3" name="">
            <a:extLst xmlns:a="http://schemas.openxmlformats.org/drawingml/2006/main">
              <a:ext uri="{FF2B5EF4-FFF2-40B4-BE49-F238E27FC236}">
                <a16:creationId xmlns:a16="http://schemas.microsoft.com/office/drawing/2014/main" id="{BCA08940-CC12-4FA5-BE82-1AC1D9A6A2DC}"/>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최근 경기 승패·KDA·연승/연패 등</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시퀀스 파생 피처 13개를 추가 비교</a:t>
            </a:r>
          </a:p>
        </p:txBody>
      </p:sp>
      <p:sp>
        <p:nvSpPr>
          <p:cNvPr id="4" name="">
            <a:extLst xmlns:a="http://schemas.openxmlformats.org/drawingml/2006/main">
              <a:ext uri="{FF2B5EF4-FFF2-40B4-BE49-F238E27FC236}">
                <a16:creationId xmlns:a16="http://schemas.microsoft.com/office/drawing/2014/main" id="{FDA700CD-1D5E-4C8F-9377-93D8FBBD176A}"/>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5-fold 교차검증 · 클래스 가중치와 오버샘플링은 미사용</a:t>
            </a:r>
          </a:p>
        </p:txBody>
      </p:sp>
    </p:spTree>
    <p:extLst>
      <p:ext uri="{BB962C8B-B14F-4D97-AF65-F5344CB8AC3E}">
        <p14:creationId xmlns:p14="http://schemas.microsoft.com/office/powerpoint/2010/main" val="11430013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99EBA1-8BBE-46B2-8404-1D6270CF69B4}"/>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06  교차검증에서 확인한 성능</a:t>
            </a:r>
          </a:p>
        </p:txBody>
      </p:sp>
      <p:sp>
        <p:nvSpPr>
          <p:cNvPr id="2" name="">
            <a:extLst xmlns:a="http://schemas.openxmlformats.org/drawingml/2006/main">
              <a:ext uri="{FF2B5EF4-FFF2-40B4-BE49-F238E27FC236}">
                <a16:creationId xmlns:a16="http://schemas.microsoft.com/office/drawing/2014/main" id="{B91046B3-9F4C-4D32-B746-E0D3250F4ED0}"/>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PR-AUC 0.397</a:t>
            </a:r>
          </a:p>
        </p:txBody>
      </p:sp>
      <p:sp>
        <p:nvSpPr>
          <p:cNvPr id="3" name="">
            <a:extLst xmlns:a="http://schemas.openxmlformats.org/drawingml/2006/main">
              <a:ext uri="{FF2B5EF4-FFF2-40B4-BE49-F238E27FC236}">
                <a16:creationId xmlns:a16="http://schemas.microsoft.com/office/drawing/2014/main" id="{E6F16D99-A895-4B63-8207-683D3A3F140F}"/>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ROC-AUC 0.783</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상위 20% Recall 52.1%</a:t>
            </a:r>
          </a:p>
        </p:txBody>
      </p:sp>
      <p:sp>
        <p:nvSpPr>
          <p:cNvPr id="4" name="">
            <a:extLst xmlns:a="http://schemas.openxmlformats.org/drawingml/2006/main">
              <a:ext uri="{FF2B5EF4-FFF2-40B4-BE49-F238E27FC236}">
                <a16:creationId xmlns:a16="http://schemas.microsoft.com/office/drawing/2014/main" id="{5145FD60-9250-4EA8-AF5E-262A39CC099D}"/>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5-fold OoF 결과 · 미래 시점 검증은 아직 없음</a:t>
            </a:r>
          </a:p>
        </p:txBody>
      </p:sp>
    </p:spTree>
    <p:extLst>
      <p:ext uri="{BB962C8B-B14F-4D97-AF65-F5344CB8AC3E}">
        <p14:creationId xmlns:p14="http://schemas.microsoft.com/office/powerpoint/2010/main" val="4338327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07BB8D-0E6D-4C7B-9636-45A6EDEB8596}"/>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07  상위 20%를 대상으로 하면</a:t>
            </a:r>
          </a:p>
        </p:txBody>
      </p:sp>
      <p:sp>
        <p:nvSpPr>
          <p:cNvPr id="2" name="">
            <a:extLst xmlns:a="http://schemas.openxmlformats.org/drawingml/2006/main">
              <a:ext uri="{FF2B5EF4-FFF2-40B4-BE49-F238E27FC236}">
                <a16:creationId xmlns:a16="http://schemas.microsoft.com/office/drawing/2014/main" id="{94233B06-69C5-44B3-A370-1CB56E83F592}"/>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477명 중 실제 경기 중단 189명</a:t>
            </a:r>
          </a:p>
        </p:txBody>
      </p:sp>
      <p:sp>
        <p:nvSpPr>
          <p:cNvPr id="3" name="">
            <a:extLst xmlns:a="http://schemas.openxmlformats.org/drawingml/2006/main">
              <a:ext uri="{FF2B5EF4-FFF2-40B4-BE49-F238E27FC236}">
                <a16:creationId xmlns:a16="http://schemas.microsoft.com/office/drawing/2014/main" id="{AC023B6D-F6B3-4824-92FC-C0A3257F2663}"/>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정밀도 39.6%</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전체 중단자 363명 중 189명 발견</a:t>
            </a:r>
          </a:p>
        </p:txBody>
      </p:sp>
      <p:sp>
        <p:nvSpPr>
          <p:cNvPr id="4" name="">
            <a:extLst xmlns:a="http://schemas.openxmlformats.org/drawingml/2006/main">
              <a:ext uri="{FF2B5EF4-FFF2-40B4-BE49-F238E27FC236}">
                <a16:creationId xmlns:a16="http://schemas.microsoft.com/office/drawing/2014/main" id="{C7C4DC8B-08D8-4AFB-A2C4-94813E5AC39A}"/>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288명은 이후 30일에도 경기 기록이 있었음</a:t>
            </a:r>
          </a:p>
        </p:txBody>
      </p:sp>
    </p:spTree>
    <p:extLst>
      <p:ext uri="{BB962C8B-B14F-4D97-AF65-F5344CB8AC3E}">
        <p14:creationId xmlns:p14="http://schemas.microsoft.com/office/powerpoint/2010/main" val="10863314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FE5918-987C-469E-8877-011C04E60FC9}"/>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08  복잡한 모델이 항상 더 낫지는 않았습니다</a:t>
            </a:r>
          </a:p>
        </p:txBody>
      </p:sp>
      <p:sp>
        <p:nvSpPr>
          <p:cNvPr id="2" name="">
            <a:extLst xmlns:a="http://schemas.openxmlformats.org/drawingml/2006/main">
              <a:ext uri="{FF2B5EF4-FFF2-40B4-BE49-F238E27FC236}">
                <a16:creationId xmlns:a16="http://schemas.microsoft.com/office/drawing/2014/main" id="{3FFF2DED-E123-4E23-BDBC-58E40D522A8C}"/>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KDA·승패 시퀀스 추가</a:t>
            </a:r>
          </a:p>
        </p:txBody>
      </p:sp>
      <p:sp>
        <p:nvSpPr>
          <p:cNvPr id="3" name="">
            <a:extLst xmlns:a="http://schemas.openxmlformats.org/drawingml/2006/main">
              <a:ext uri="{FF2B5EF4-FFF2-40B4-BE49-F238E27FC236}">
                <a16:creationId xmlns:a16="http://schemas.microsoft.com/office/drawing/2014/main" id="{16CDD97C-19FA-42D5-A854-57BEF1385791}"/>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전체 PR-AUC 0.3970 → 0.3977</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상위 20% Recall 52.1% → 51.8%</a:t>
            </a:r>
          </a:p>
        </p:txBody>
      </p:sp>
      <p:sp>
        <p:nvSpPr>
          <p:cNvPr id="4" name="">
            <a:extLst xmlns:a="http://schemas.openxmlformats.org/drawingml/2006/main">
              <a:ext uri="{FF2B5EF4-FFF2-40B4-BE49-F238E27FC236}">
                <a16:creationId xmlns:a16="http://schemas.microsoft.com/office/drawing/2014/main" id="{EB28DA41-9FC6-4AF2-95D9-0FD174CDAC04}"/>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별도 Transformer 과제도 단순 기준을 넘는 이득을 입증하지 못함</a:t>
            </a:r>
          </a:p>
        </p:txBody>
      </p:sp>
    </p:spTree>
    <p:extLst>
      <p:ext uri="{BB962C8B-B14F-4D97-AF65-F5344CB8AC3E}">
        <p14:creationId xmlns:p14="http://schemas.microsoft.com/office/powerpoint/2010/main" val="13800647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D3AD79-E1EC-402B-9D1D-8D40405A3DA2}"/>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09  점수는 개입 우선순위입니다</a:t>
            </a:r>
          </a:p>
        </p:txBody>
      </p:sp>
      <p:sp>
        <p:nvSpPr>
          <p:cNvPr id="2" name="">
            <a:extLst xmlns:a="http://schemas.openxmlformats.org/drawingml/2006/main">
              <a:ext uri="{FF2B5EF4-FFF2-40B4-BE49-F238E27FC236}">
                <a16:creationId xmlns:a16="http://schemas.microsoft.com/office/drawing/2014/main" id="{C23E5731-971A-49BA-8745-9F43B7C62BAB}"/>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위험 점수 ≠ 보정된 이탈 확률</a:t>
            </a:r>
          </a:p>
        </p:txBody>
      </p:sp>
      <p:sp>
        <p:nvSpPr>
          <p:cNvPr id="3" name="">
            <a:extLst xmlns:a="http://schemas.openxmlformats.org/drawingml/2006/main">
              <a:ext uri="{FF2B5EF4-FFF2-40B4-BE49-F238E27FC236}">
                <a16:creationId xmlns:a16="http://schemas.microsoft.com/office/drawing/2014/main" id="{D46C5450-0595-4EDB-8F81-5F09C5D7FE7E}"/>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높은 점수의 원인이</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이탈을 일으킨다고 단정할 수 없음</a:t>
            </a:r>
          </a:p>
        </p:txBody>
      </p:sp>
      <p:sp>
        <p:nvSpPr>
          <p:cNvPr id="4" name="">
            <a:extLst xmlns:a="http://schemas.openxmlformats.org/drawingml/2006/main">
              <a:ext uri="{FF2B5EF4-FFF2-40B4-BE49-F238E27FC236}">
                <a16:creationId xmlns:a16="http://schemas.microsoft.com/office/drawing/2014/main" id="{FD5C9D58-DFAA-4BB0-84FE-8D3D949ED137}"/>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보상 효과와 ROI는 무작위 캠페인 실험으로 확인</a:t>
            </a:r>
          </a:p>
        </p:txBody>
      </p:sp>
    </p:spTree>
    <p:extLst>
      <p:ext uri="{BB962C8B-B14F-4D97-AF65-F5344CB8AC3E}">
        <p14:creationId xmlns:p14="http://schemas.microsoft.com/office/powerpoint/2010/main" val="14370891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BF2545-9649-41B6-BD64-B94196CE6E5B}"/>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10  생존분석은 별도의 탐색 화면입니다</a:t>
            </a:r>
          </a:p>
        </p:txBody>
      </p:sp>
      <p:sp>
        <p:nvSpPr>
          <p:cNvPr id="2" name="">
            <a:extLst xmlns:a="http://schemas.openxmlformats.org/drawingml/2006/main">
              <a:ext uri="{FF2B5EF4-FFF2-40B4-BE49-F238E27FC236}">
                <a16:creationId xmlns:a16="http://schemas.microsoft.com/office/drawing/2014/main" id="{85C16668-3145-4315-9EC0-B32F1ADC7107}"/>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7·14·30일 유지 곡선은 합성 데이터 데모</a:t>
            </a:r>
          </a:p>
        </p:txBody>
      </p:sp>
      <p:sp>
        <p:nvSpPr>
          <p:cNvPr id="3" name="">
            <a:extLst xmlns:a="http://schemas.openxmlformats.org/drawingml/2006/main">
              <a:ext uri="{FF2B5EF4-FFF2-40B4-BE49-F238E27FC236}">
                <a16:creationId xmlns:a16="http://schemas.microsoft.com/office/drawing/2014/main" id="{BB26AD32-7080-4C31-ACD6-6B07BAB8226B}"/>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실제 사용자별 예측이나</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검증된 Cox 성능으로 해석하지 않음</a:t>
            </a:r>
          </a:p>
        </p:txBody>
      </p:sp>
      <p:sp>
        <p:nvSpPr>
          <p:cNvPr id="4" name="">
            <a:extLst xmlns:a="http://schemas.openxmlformats.org/drawingml/2006/main">
              <a:ext uri="{FF2B5EF4-FFF2-40B4-BE49-F238E27FC236}">
                <a16:creationId xmlns:a16="http://schemas.microsoft.com/office/drawing/2014/main" id="{0FBED625-6AD2-4D62-AEC5-2B5D12602528}"/>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실제 생존 예측에는 여러 시점의 관찰 기록이 필요</a:t>
            </a:r>
          </a:p>
        </p:txBody>
      </p:sp>
    </p:spTree>
    <p:extLst>
      <p:ext uri="{BB962C8B-B14F-4D97-AF65-F5344CB8AC3E}">
        <p14:creationId xmlns:p14="http://schemas.microsoft.com/office/powerpoint/2010/main" val="19109649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8C5EF7-6628-4D8E-B371-C5DE1F1792FA}"/>
              </a:ext>
            </a:extLst>
          </p:cNvPr>
          <p:cNvSpPr>
            <a:spLocks xmlns:a="http://schemas.openxmlformats.org/drawingml/2006/main" noGrp="1"/>
          </p:cNvSpPr>
          <p:nvPr/>
        </p:nvSpPr>
        <p:spPr>
          <a:xfrm xmlns:a="http://schemas.openxmlformats.org/drawingml/2006/main">
            <a:off x="742950" y="609600"/>
            <a:ext cx="10706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111111"/>
                </a:solidFill>
                <a:latin typeface="Malgun Gothic"/>
                <a:ea typeface="Malgun Gothic"/>
                <a:cs typeface="Malgun Gothic"/>
              </a:defRPr>
            </a:pPr>
            <a:r>
              <a:rPr sz="3000" b="1">
                <a:solidFill>
                  <a:srgbClr val="111111"/>
                </a:solidFill>
                <a:latin typeface="Malgun Gothic"/>
                <a:ea typeface="Malgun Gothic"/>
                <a:cs typeface="Malgun Gothic"/>
              </a:rPr>
              <a:t>11  운영 전에는 시간 기준 검증이 필요합니다</a:t>
            </a:r>
          </a:p>
        </p:txBody>
      </p:sp>
      <p:sp>
        <p:nvSpPr>
          <p:cNvPr id="2" name="">
            <a:extLst xmlns:a="http://schemas.openxmlformats.org/drawingml/2006/main">
              <a:ext uri="{FF2B5EF4-FFF2-40B4-BE49-F238E27FC236}">
                <a16:creationId xmlns:a16="http://schemas.microsoft.com/office/drawing/2014/main" id="{9609FC0B-F54E-42BE-8D11-9E5BA4964BBB}"/>
              </a:ext>
            </a:extLst>
          </p:cNvPr>
          <p:cNvSpPr>
            <a:spLocks xmlns:a="http://schemas.openxmlformats.org/drawingml/2006/main" noGrp="1"/>
          </p:cNvSpPr>
          <p:nvPr/>
        </p:nvSpPr>
        <p:spPr>
          <a:xfrm xmlns:a="http://schemas.openxmlformats.org/drawingml/2006/main">
            <a:off x="1066800" y="2000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150" b="1">
                <a:solidFill>
                  <a:srgbClr val="111111"/>
                </a:solidFill>
                <a:latin typeface="Malgun Gothic"/>
                <a:ea typeface="Malgun Gothic"/>
                <a:cs typeface="Malgun Gothic"/>
              </a:defRPr>
            </a:pPr>
            <a:r>
              <a:rPr sz="3150" b="1">
                <a:solidFill>
                  <a:srgbClr val="111111"/>
                </a:solidFill>
                <a:latin typeface="Malgun Gothic"/>
                <a:ea typeface="Malgun Gothic"/>
                <a:cs typeface="Malgun Gothic"/>
              </a:rPr>
              <a:t>다음 달 표본에서 성능 재확인</a:t>
            </a:r>
          </a:p>
        </p:txBody>
      </p:sp>
      <p:sp>
        <p:nvSpPr>
          <p:cNvPr id="3" name="">
            <a:extLst xmlns:a="http://schemas.openxmlformats.org/drawingml/2006/main">
              <a:ext uri="{FF2B5EF4-FFF2-40B4-BE49-F238E27FC236}">
                <a16:creationId xmlns:a16="http://schemas.microsoft.com/office/drawing/2014/main" id="{01FD7E14-047F-4875-BD43-BD7444FF1793}"/>
              </a:ext>
            </a:extLst>
          </p:cNvPr>
          <p:cNvSpPr>
            <a:spLocks xmlns:a="http://schemas.openxmlformats.org/drawingml/2006/main" noGrp="1"/>
          </p:cNvSpPr>
          <p:nvPr/>
        </p:nvSpPr>
        <p:spPr>
          <a:xfrm xmlns:a="http://schemas.openxmlformats.org/drawingml/2006/main">
            <a:off x="1085850" y="3571875"/>
            <a:ext cx="9810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확률 보정과 캠페인 효과 측정</a:t>
            </a:r>
          </a:p>
          <a:p xmlns:a="http://schemas.openxmlformats.org/drawingml/2006/main">
            <a:pPr>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대상군 기준도 운영팀과 합의</a:t>
            </a:r>
          </a:p>
        </p:txBody>
      </p:sp>
      <p:sp>
        <p:nvSpPr>
          <p:cNvPr id="4" name="">
            <a:extLst xmlns:a="http://schemas.openxmlformats.org/drawingml/2006/main">
              <a:ext uri="{FF2B5EF4-FFF2-40B4-BE49-F238E27FC236}">
                <a16:creationId xmlns:a16="http://schemas.microsoft.com/office/drawing/2014/main" id="{791B822A-E741-434E-8C35-04C20BFC1C77}"/>
              </a:ext>
            </a:extLst>
          </p:cNvPr>
          <p:cNvSpPr>
            <a:spLocks xmlns:a="http://schemas.openxmlformats.org/drawingml/2006/main" noGrp="1"/>
          </p:cNvSpPr>
          <p:nvPr/>
        </p:nvSpPr>
        <p:spPr>
          <a:xfrm xmlns:a="http://schemas.openxmlformats.org/drawingml/2006/main">
            <a:off x="1085850" y="56197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현재 결과는 한 기준일에서의 실험 결과</a:t>
            </a:r>
          </a:p>
        </p:txBody>
      </p:sp>
    </p:spTree>
    <p:extLst>
      <p:ext uri="{BB962C8B-B14F-4D97-AF65-F5344CB8AC3E}">
        <p14:creationId xmlns:p14="http://schemas.microsoft.com/office/powerpoint/2010/main" val="5992061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2026-09-27T19:22:26.0480000Z</dcterms:created>
  <dcterms:modified xsi:type="dcterms:W3CDTF">2026-09-27T19:22:26.0480000Z</dcterms:modified>
</coreProperties>
</file>