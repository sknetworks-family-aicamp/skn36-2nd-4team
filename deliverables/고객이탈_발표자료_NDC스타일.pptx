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d32381fb76b478f" /><Relationship Type="http://schemas.openxmlformats.org/officeDocument/2006/relationships/extended-properties" Target="/docProps/app.xml" Id="Re6a7bef58a564cf8" /><Relationship Type="http://schemas.openxmlformats.org/officeDocument/2006/relationships/officeDocument" Target="/ppt/presentation.xml" Id="R8374f9b47b2746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18c01346104c26"/>
  </p:sldMasterIdLst>
  <p:notesMasterIdLst>
    <p:notesMasterId xmlns:r="http://schemas.openxmlformats.org/officeDocument/2006/relationships" r:id="R3f62f1e8ece246c9"/>
  </p:notesMasterIdLst>
  <p:sldIdLst>
    <p:sldId xmlns:r="http://schemas.openxmlformats.org/officeDocument/2006/relationships" id="256" r:id="R89a21e5a0ab74a25"/>
    <p:sldId xmlns:r="http://schemas.openxmlformats.org/officeDocument/2006/relationships" id="257" r:id="Rc61ac57e48a64e4e"/>
    <p:sldId xmlns:r="http://schemas.openxmlformats.org/officeDocument/2006/relationships" id="258" r:id="R079391102b5e46ff"/>
    <p:sldId xmlns:r="http://schemas.openxmlformats.org/officeDocument/2006/relationships" id="259" r:id="R904fc42d99c24360"/>
    <p:sldId xmlns:r="http://schemas.openxmlformats.org/officeDocument/2006/relationships" id="260" r:id="Racf17507b4fd494f"/>
    <p:sldId xmlns:r="http://schemas.openxmlformats.org/officeDocument/2006/relationships" id="261" r:id="R18849400e3f14606"/>
    <p:sldId xmlns:r="http://schemas.openxmlformats.org/officeDocument/2006/relationships" id="262" r:id="R6cc63040df47455d"/>
    <p:sldId xmlns:r="http://schemas.openxmlformats.org/officeDocument/2006/relationships" id="263" r:id="Rdb98451b25c04e06"/>
    <p:sldId xmlns:r="http://schemas.openxmlformats.org/officeDocument/2006/relationships" id="264" r:id="R8d06f5a80fe24667"/>
    <p:sldId xmlns:r="http://schemas.openxmlformats.org/officeDocument/2006/relationships" id="265" r:id="R15df59269d1b48e8"/>
    <p:sldId xmlns:r="http://schemas.openxmlformats.org/officeDocument/2006/relationships" id="266" r:id="R19febb4cdcf04a0e"/>
    <p:sldId xmlns:r="http://schemas.openxmlformats.org/officeDocument/2006/relationships" id="267" r:id="R76bc00186f984de0"/>
    <p:sldId xmlns:r="http://schemas.openxmlformats.org/officeDocument/2006/relationships" id="268" r:id="R3601e25583a440f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f3d1aa256f245fc" /><Relationship Type="http://schemas.openxmlformats.org/officeDocument/2006/relationships/slideMaster" Target="/ppt/slideMasters/slideMaster1.xml" Id="Rbe18c01346104c26" /><Relationship Type="http://schemas.openxmlformats.org/officeDocument/2006/relationships/notesMaster" Target="/ppt/notesMasters/notesMaster1.xml" Id="R3f62f1e8ece246c9" /><Relationship Type="http://schemas.openxmlformats.org/officeDocument/2006/relationships/presProps" Target="/ppt/presProps.xml" Id="R96b26130b8b94a4d" /><Relationship Type="http://schemas.openxmlformats.org/officeDocument/2006/relationships/tableStyles" Target="/ppt/tableStyles.xml" Id="Rb7f7d3cf00414440" /><Relationship Type="http://schemas.openxmlformats.org/officeDocument/2006/relationships/slide" Target="/ppt/slides/slide1.xml" Id="R89a21e5a0ab74a25" /><Relationship Type="http://schemas.openxmlformats.org/officeDocument/2006/relationships/slide" Target="/ppt/slides/slide2.xml" Id="Rc61ac57e48a64e4e" /><Relationship Type="http://schemas.openxmlformats.org/officeDocument/2006/relationships/slide" Target="/ppt/slides/slide3.xml" Id="R079391102b5e46ff" /><Relationship Type="http://schemas.openxmlformats.org/officeDocument/2006/relationships/slide" Target="/ppt/slides/slide4.xml" Id="R904fc42d99c24360" /><Relationship Type="http://schemas.openxmlformats.org/officeDocument/2006/relationships/slide" Target="/ppt/slides/slide5.xml" Id="Racf17507b4fd494f" /><Relationship Type="http://schemas.openxmlformats.org/officeDocument/2006/relationships/slide" Target="/ppt/slides/slide6.xml" Id="R18849400e3f14606" /><Relationship Type="http://schemas.openxmlformats.org/officeDocument/2006/relationships/slide" Target="/ppt/slides/slide7.xml" Id="R6cc63040df47455d" /><Relationship Type="http://schemas.openxmlformats.org/officeDocument/2006/relationships/slide" Target="/ppt/slides/slide8.xml" Id="Rdb98451b25c04e06" /><Relationship Type="http://schemas.openxmlformats.org/officeDocument/2006/relationships/slide" Target="/ppt/slides/slide9.xml" Id="R8d06f5a80fe24667" /><Relationship Type="http://schemas.openxmlformats.org/officeDocument/2006/relationships/slide" Target="/ppt/slides/slide10.xml" Id="R15df59269d1b48e8" /><Relationship Type="http://schemas.openxmlformats.org/officeDocument/2006/relationships/slide" Target="/ppt/slides/slide11.xml" Id="R19febb4cdcf04a0e" /><Relationship Type="http://schemas.openxmlformats.org/officeDocument/2006/relationships/slide" Target="/ppt/slides/slide12.xml" Id="R76bc00186f984de0" /><Relationship Type="http://schemas.openxmlformats.org/officeDocument/2006/relationships/slide" Target="/ppt/slides/slide13.xml" Id="R3601e25583a440f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274b486c99041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66ddb8d88994212" /><Relationship Type="http://schemas.openxmlformats.org/officeDocument/2006/relationships/notesMaster" Target="/ppt/notesMasters/notesMaster1.xml" Id="R2254a0304a56417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40fd5d489004100" /><Relationship Type="http://schemas.openxmlformats.org/officeDocument/2006/relationships/notesMaster" Target="/ppt/notesMasters/notesMaster1.xml" Id="R30f0a279d3364a8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92f57e3990647ea" /><Relationship Type="http://schemas.openxmlformats.org/officeDocument/2006/relationships/notesMaster" Target="/ppt/notesMasters/notesMaster1.xml" Id="Rb5a24eea22d9442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4be737e9f3348fd" /><Relationship Type="http://schemas.openxmlformats.org/officeDocument/2006/relationships/notesMaster" Target="/ppt/notesMasters/notesMaster1.xml" Id="Rb8aacb02c38b4d8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743108bb58a408a" /><Relationship Type="http://schemas.openxmlformats.org/officeDocument/2006/relationships/notesMaster" Target="/ppt/notesMasters/notesMaster1.xml" Id="R05a320df8005476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5b312997e034af5" /><Relationship Type="http://schemas.openxmlformats.org/officeDocument/2006/relationships/notesMaster" Target="/ppt/notesMasters/notesMaster1.xml" Id="R860ae01150f34fe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80e7cc96de34c0c" /><Relationship Type="http://schemas.openxmlformats.org/officeDocument/2006/relationships/notesMaster" Target="/ppt/notesMasters/notesMaster1.xml" Id="R96739ab48514494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cdac363598a42a7" /><Relationship Type="http://schemas.openxmlformats.org/officeDocument/2006/relationships/notesMaster" Target="/ppt/notesMasters/notesMaster1.xml" Id="Rff13bc582aac448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6d412ff749941ae" /><Relationship Type="http://schemas.openxmlformats.org/officeDocument/2006/relationships/notesMaster" Target="/ppt/notesMasters/notesMaster1.xml" Id="R5018054ae1b4464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5d69c677c0d424b" /><Relationship Type="http://schemas.openxmlformats.org/officeDocument/2006/relationships/notesMaster" Target="/ppt/notesMasters/notesMaster1.xml" Id="R8595af5c3b074ef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7081f41e21d4783" /><Relationship Type="http://schemas.openxmlformats.org/officeDocument/2006/relationships/notesMaster" Target="/ppt/notesMasters/notesMaster1.xml" Id="Rd48af5668267421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6b93c1a699f466c" /><Relationship Type="http://schemas.openxmlformats.org/officeDocument/2006/relationships/notesMaster" Target="/ppt/notesMasters/notesMaster1.xml" Id="R0611b6c97bd7467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34c8ea2ed864153" /><Relationship Type="http://schemas.openxmlformats.org/officeDocument/2006/relationships/notesMaster" Target="/ppt/notesMasters/notesMaster1.xml" Id="R7ada5f942cfe422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프로젝트 주제를 소개합니다. 단순히 분류 점수를 만드는 데 그치지 않고, 이탈 방지 의사결정에 어떻게 연결할 수 있을지 살펴봅니다.</a:t>
            </a:r>
          </a:p>
          <a:p xmlns:a="http://schemas.openxmlformats.org/drawingml/2006/main">
            <a:r>
              <a:t>참고: https://ndcreplay.nexon.com/NDC2018/sessions/NDC2018_0006.html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강연의 핵심 메시지를 프로젝트에 연결합니다. 실제로는 예측 뒤 어떤 조치를 할지, 비용을 들일 만큼 효과가 있는지가 중요합니다.</a:t>
            </a:r>
          </a:p>
          <a:p xmlns:a="http://schemas.openxmlformats.org/drawingml/2006/main">
            <a:r>
              <a:t>참고: NDC Replay 세션 소개, https://ndcreplay.nexon.com/NDC2018/sessions/NDC2018_0006.html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수집 사용자는 9,879명이고 그중 잠정 활동 고객 기준을 충족한 2,381명을 모델 대상으로 정했습니다. 두 구간의 경기 수 기준으로 만든 분석 편의상 대상군입니다. 실제로 봇이나 악성 사용자, 장기 충성도를 판별한 것은 아닙니다.</a:t>
            </a:r>
          </a:p>
          <a:p xmlns:a="http://schemas.openxmlformats.org/drawingml/2006/main">
            <a:r>
              <a:t>참고: CORE_COHORT_POLICY.md, models/core_churn_2026-08-01/RESULTS.md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데이터에는 계정 탈퇴 또는 로그인 기록이 없습니다. 그래서 프로젝트에서는 경기 기록으로 관찰 가능한 중단을 정의했습니다. 30일 기준은 프로젝트 분석에서 설정한 값이며 실제 서비스 적용 시 업데이트 일정, 복귀율과 운영 목적에 맞게 다시 검토해야 합니다.</a:t>
            </a:r>
          </a:p>
          <a:p xmlns:a="http://schemas.openxmlformats.org/drawingml/2006/main">
            <a:r>
              <a:t>참고: CORE_COHORT_POLICY.md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기준일을 2026년 8월 1일 00시 UTC로 고정했습니다. 기준일 전 30일의 정보로 피처를 만들고, 이후 30일간 모든 모드에서 경기가 없으면 중단으로 라벨링했습니다. 미래 정보를 입력에 섞지 않는 것이 핵심입니다.</a:t>
            </a:r>
          </a:p>
          <a:p xmlns:a="http://schemas.openxmlformats.org/drawingml/2006/main">
            <a:r>
              <a:t>참고: CORE_COHORT_POLICY.md, models/core_churn_2026-08-01/RESULTS.md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 집계 피처 33개에 최근 경기 승패와 KDA, 연승·연패 및 솔로랭크 관련 시퀀스 피처 13개를 추가한 경우를 비교했습니다. 같은 5-fold 계층 교차검증을 사용했습니다. 클래스 가중치나 ROS, SMOTE는 적용하지 않았습니다.</a:t>
            </a:r>
          </a:p>
          <a:p xmlns:a="http://schemas.openxmlformats.org/drawingml/2006/main">
            <a:r>
              <a:t>참고: models/core_churn_2026-08-01/RESULTS.md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PR-AUC의 무작위 기준은 대상군 이탈 비율 15.25%입니다. 상위 20% Recall은 위험 점수 상위 20%를 조치한다고 가정했을 때 전체 경기 중단자의 52.1%가 그 안에 포함된다는 뜻입니다. 한 기준일에서의 out-of-fold 결과입니다.</a:t>
            </a:r>
          </a:p>
          <a:p xmlns:a="http://schemas.openxmlformats.org/drawingml/2006/main">
            <a:r>
              <a:t>참고: models/core_churn_2026-08-01/RESULTS.md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2,381명의 상위 20%는 477명입니다. 이 중 189명이 경기 중단으로 확인되어 정밀도는 39.6%입니다. 전체 경기 중단자 363명 중 189명을 찾아 Recall은 52.1%입니다. 실제 캠페인에서는 이 오탐 비용과 고객 불편도 함께 고려해야 합니다.</a:t>
            </a:r>
          </a:p>
          <a:p xmlns:a="http://schemas.openxmlformats.org/drawingml/2006/main">
            <a:r>
              <a:t>참고: models/core_churn_2026-08-01/RESULTS.md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시퀀스 피처 추가로 PR-AUC는 0.0007 올랐지만 상위 20% Recall은 0.3%p 낮아졌습니다. 여러 평가 지표에서 뚜렷한 개선이 나타나지 않아 단순한 집계 피처 모델을 우선 후보로 두었습니다.</a:t>
            </a:r>
          </a:p>
          <a:p xmlns:a="http://schemas.openxmlformats.org/drawingml/2006/main">
            <a:r>
              <a:t>참고: models/core_churn_2026-08-01/RESULTS.md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Transformer는 30일 이탈 과제와 다음 모드, 경기 간격, 챔피언과 포지션 예측을 탐색했습니다. 다음 모드 정확도는 Transformer 90.3%, 직전 모드 반복 기준 90.9%였습니다. 다음 챔피언 Top-1도 Transformer 17.8%, 사용자별 최빈 챔피언 기준 25.2%였습니다. 이 실험은 다른 조건의 탐색 기록이므로 현재 대상군 CatBoost 결과와 직접 성능 비교하지 않습니다.</a:t>
            </a:r>
          </a:p>
          <a:p xmlns:a="http://schemas.openxmlformats.org/drawingml/2006/main">
            <a:r>
              <a:t>참고: TRANSFORMER_EXPERIMENTS.md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React의 생존분석 확장 화면은 합성 데이터 데모입니다. 그 곡선을 실제 사용자별로 7일, 14일, 30일 후 유지할 확률로 읽으면 안 됩니다. 실제 Cox 또는 생존모델을 학습하고 평가하려면 여러 시점의 실제 관찰 이력과 검열 정보가 필요합니다.</a:t>
            </a:r>
          </a:p>
          <a:p xmlns:a="http://schemas.openxmlformats.org/drawingml/2006/main">
            <a:r>
              <a:t>참고: CORE_COHORT_POLICY.md, TRANSFORMER_EXPERIMENTS.md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모델 점수는 개입 우선순위를 정하는 신호로 볼 수 있습니다. 보상이나 콘텐츠를 제공한 그룹과 대조군을 무작위로 나누고, 일정 기간 후 경기 유지율·게임 수·비용을 비교해야 캠페인의 효과와 ROI를 추정할 수 있습니다. 현재 프로젝트에서는 그 A/B 테스트를 수행하지 않았습니다.</a:t>
            </a:r>
          </a:p>
          <a:p xmlns:a="http://schemas.openxmlformats.org/drawingml/2006/main">
            <a:r>
              <a:t>참고: 고객이탈 발표.txt, models/core_churn_2026-08-01/RESULTS.md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마지막으로 다음 시기의 새 데이터를 확보해 시간 기준 검증을 해야 합니다. 위험 점수의 확률 보정 여부도 확인하고, 개입 효과는 대조군을 둔 실험으로 평가해야 현업 운영과 ROI 논의로 이어질 수 있습니다.</a:t>
            </a:r>
          </a:p>
          <a:p xmlns:a="http://schemas.openxmlformats.org/drawingml/2006/main">
            <a:r>
              <a:t>참고: models/core_churn_2026-08-01/RESULTS.md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ea74f6ffd0448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1c1ec620b964c78" /><Relationship Type="http://schemas.openxmlformats.org/officeDocument/2006/relationships/slideLayout" Target="/ppt/slideLayouts/slideLayout1.xml" Id="Rfecd517c9a7a417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ecd517c9a7a417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40f187e2224cd0" /><Relationship Type="http://schemas.openxmlformats.org/officeDocument/2006/relationships/notesSlide" Target="/ppt/notesSlides/notesSlide1.xml" Id="R2883dbbc93b1453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82c5a563a54e27" /><Relationship Type="http://schemas.openxmlformats.org/officeDocument/2006/relationships/notesSlide" Target="/ppt/notesSlides/notesSlide2.xml" Id="Rd71df11a70ad46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b57ef058524fc4" /><Relationship Type="http://schemas.openxmlformats.org/officeDocument/2006/relationships/notesSlide" Target="/ppt/notesSlides/notesSlide3.xml" Id="Rfdaf3e24aefe458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89d6fcb4f74331" /><Relationship Type="http://schemas.openxmlformats.org/officeDocument/2006/relationships/notesSlide" Target="/ppt/notesSlides/notesSlide4.xml" Id="R77b9250f98924b4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a835c2a6a741f5" /><Relationship Type="http://schemas.openxmlformats.org/officeDocument/2006/relationships/notesSlide" Target="/ppt/notesSlides/notesSlide5.xml" Id="R904ccacc8860471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cae71c0b164a55" /><Relationship Type="http://schemas.openxmlformats.org/officeDocument/2006/relationships/notesSlide" Target="/ppt/notesSlides/notesSlide6.xml" Id="R3647223504884da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49aea0289c45e8" /><Relationship Type="http://schemas.openxmlformats.org/officeDocument/2006/relationships/notesSlide" Target="/ppt/notesSlides/notesSlide7.xml" Id="R960f05059d8b4cd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84d291ae50489f" /><Relationship Type="http://schemas.openxmlformats.org/officeDocument/2006/relationships/notesSlide" Target="/ppt/notesSlides/notesSlide8.xml" Id="Re464c392ff6a444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58ec95a72b40c6" /><Relationship Type="http://schemas.openxmlformats.org/officeDocument/2006/relationships/notesSlide" Target="/ppt/notesSlides/notesSlide9.xml" Id="Rbb238019ee18478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ecf280ef014529" /><Relationship Type="http://schemas.openxmlformats.org/officeDocument/2006/relationships/notesSlide" Target="/ppt/notesSlides/notesSlide10.xml" Id="R1a7b1a984130453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0bea882b084400" /><Relationship Type="http://schemas.openxmlformats.org/officeDocument/2006/relationships/notesSlide" Target="/ppt/notesSlides/notesSlide11.xml" Id="R7cab0a99ade24e3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6d70414297444b" /><Relationship Type="http://schemas.openxmlformats.org/officeDocument/2006/relationships/notesSlide" Target="/ppt/notesSlides/notesSlide12.xml" Id="R7e73a2356d674de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0947702c0d436b" /><Relationship Type="http://schemas.openxmlformats.org/officeDocument/2006/relationships/notesSlide" Target="/ppt/notesSlides/notesSlide13.xml" Id="Rb3bd32fd96d148e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5C4F3A-CFC1-4EA0-87C5-2FB9B78ED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10706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6C1CF9-5CF0-4E60-9AA7-5E14E1E22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52625"/>
            <a:ext cx="100584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고객의 이탈을 방지하고</a:t>
            </a:r>
          </a:p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기대 이익을 높이는 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23E4E4-90F3-401B-90D2-884D65FD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67125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리그 오브 레전드 경기 기록 기반 분석</a:t>
            </a:r>
          </a:p>
        </p:txBody>
      </p:sp>
    </p:spTree>
    <p:extLst>
      <p:ext uri="{BB962C8B-B14F-4D97-AF65-F5344CB8AC3E}">
        <p14:creationId xmlns:p14="http://schemas.microsoft.com/office/powerpoint/2010/main" val="9941255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82BF37-37A6-43C0-95C6-BA33C0E4E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10706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이탈 예측의 목적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D49E3D-6236-4222-B620-30C6F0460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52625"/>
            <a:ext cx="100584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예측 자체가 목적은 아닙니다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080824-805F-4F71-819A-7ADFB9F3A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67125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이탈을 줄여 기대 이익을 높이는 것이 목적입니다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4384CC-B5A0-4E15-82A6-E943BCAB1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667375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신규 유입보다 기존 이용자 유지가 더 효율적일 수 있습니다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2AB792-0565-4D78-B020-A3FB68029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341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691133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985E16-C9D8-4DF6-8101-A98E5DB35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10706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분석 대상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924C10-AF9E-462B-B951-B204BB420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3524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69A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수집 사용자</a:t>
            </a:r>
          </a:p>
          <a:p xmlns:a="http://schemas.openxmlformats.org/drawingml/2006/main">
            <a:pPr algn="ctr">
              <a:defRPr sz="25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9,879명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02B7B5-DC9C-4307-8C85-619453350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952750"/>
            <a:ext cx="1095375" cy="514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504CAA-2400-4B37-992B-4FDD1FD5B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571750"/>
            <a:ext cx="43338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69A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잠정 활동 고객군</a:t>
            </a:r>
          </a:p>
          <a:p xmlns:a="http://schemas.openxmlformats.org/drawingml/2006/main">
            <a:pPr algn="ctr">
              <a:defRPr sz="25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2,381명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4DBE6E-7B5C-494F-966A-EE443939A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33875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이전 30일 4경기 이상  +  최근 30일 1경기 이상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9E4423-2EDF-4D84-96CD-D05B83A7A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341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284020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82A4C9-0D74-4BC0-BD8C-1D4A29C5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10706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이탈의 정의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E6C3D1-D034-457C-9E83-FE3597E45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52625"/>
            <a:ext cx="100584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계정 탈퇴가 아니라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86CA32-3F4E-4A2E-9E6D-9BE0223AC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67125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30일 동안 모든 모드에서</a:t>
            </a:r>
          </a:p>
          <a:p xmlns:a="http://schemas.openxmlformats.org/drawingml/2006/main">
            <a:pPr algn="l">
              <a:defRPr sz="24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경기 기록이 없는 상태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BC8664-857A-4BD9-97A7-167C58BC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667375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로그인·탈퇴 이력이 아닌 경기 기록 기준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537D30-D493-4BC0-8E46-FE7E60BD9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341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588394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FFBCBB-87C3-4AB0-B70C-ECC2121B2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10706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입력과 정답의 시간 구분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412291-72A7-4721-9572-71A892CA0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19375"/>
            <a:ext cx="41910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69A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기준일 이전 30일</a:t>
            </a:r>
          </a:p>
          <a:p xmlns:a="http://schemas.openxmlformats.org/drawingml/2006/main">
            <a:pPr algn="ctr">
              <a:def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모델 입력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F62ECE-BE3C-4908-B690-9747B8995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009900"/>
            <a:ext cx="1047750" cy="495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19314A-BB93-4ED7-96DD-1764D117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619375"/>
            <a:ext cx="41910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69A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기준일 이후 30일</a:t>
            </a:r>
          </a:p>
          <a:p xmlns:a="http://schemas.openxmlformats.org/drawingml/2006/main">
            <a:pPr algn="ctr">
              <a:def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정답 확인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FEDEEB-1DCD-4031-8795-94B08FF9A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57700"/>
            <a:ext cx="533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69A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769AA"/>
                </a:solidFill>
                <a:latin typeface="Malgun Gothic"/>
                <a:ea typeface="Malgun Gothic"/>
                <a:cs typeface="Malgun Gothic"/>
              </a:rPr>
              <a:t>2026.08.01 00:00 UTC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4A8B35-2EA0-40B5-9082-257CDF7B1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341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615180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40B08B-F1EA-464C-8C88-7864E77B0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10706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모델링 과정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85D3ED-AF42-4E84-9A78-18CAF666D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2333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69A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경기 기록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B9EC06-319A-41C3-B2CC-6D51CCA3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124200"/>
            <a:ext cx="76200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A6ED17-F02C-472F-80DE-7EBC7DCE3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762250"/>
            <a:ext cx="2333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69A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피처 생성</a:t>
            </a:r>
          </a:p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33 + 13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07AC06-F77A-407B-A995-05B88F605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24200"/>
            <a:ext cx="76200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18B035-9F80-4826-BD71-FA7959BCE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62250"/>
            <a:ext cx="1905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69A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CatBoost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A99326-4B49-446D-853E-BEB85E8E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124200"/>
            <a:ext cx="76200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E31167-CB40-46CB-A8B3-CAEE297DD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762250"/>
            <a:ext cx="1619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69A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OoF 평가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17D292-730C-4271-9132-1098E3C57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341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1223326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D7E029-8338-49CA-A267-B44ECDC85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10706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5-fold 교차검증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1A0A3E-6D3A-4935-8319-4A403B41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52625"/>
            <a:ext cx="100584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PR-AUC  0.397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39889B-7AC3-434B-9089-5C5F219F5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67125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ROC-AUC  0.783</a:t>
            </a:r>
          </a:p>
          <a:p xmlns:a="http://schemas.openxmlformats.org/drawingml/2006/main">
            <a:pPr algn="l">
              <a:defRPr sz="24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상위 20% Recall  52.1%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FF566D-36B4-4C49-95E4-5808666E6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667375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OOF 결과이며, 다른 시기의 표본으로 검증하지 않았습니다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DD8D94-C2A1-423B-A1AC-2914C4127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341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782725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A0204D-979E-4D29-BA4E-B2D3CF274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10706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상위 20% 조치 규모 예시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A0FF6C-2604-4ADA-8841-8C29BD88C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52625"/>
            <a:ext cx="100584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477명 중 189명이</a:t>
            </a:r>
          </a:p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실제 30일 경기 중단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AC4179-E5AB-4A65-BBDF-56674018C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67125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정밀도 39.6%  /  Recall 52.1%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D6A53E-8B49-4C1A-98CC-25F5EB13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667375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선정된 477명 중 288명은 이후 경기 기록이 있었습니다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2B8D7E-63E0-452D-9636-0F6CF3CA9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341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359730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992C87-C2DB-4E27-A05A-FB390B45E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10706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피처를 더하면 성능이 오를까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BBD608-6FCF-4459-8289-518A2854D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52625"/>
            <a:ext cx="100584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KDA·승패 시퀀스 추가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D64DB6-2057-49CC-999E-B8A9559F6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67125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PR-AUC  0.3970 → 0.3977</a:t>
            </a:r>
          </a:p>
          <a:p xmlns:a="http://schemas.openxmlformats.org/drawingml/2006/main">
            <a:pPr algn="l">
              <a:defRPr sz="24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상위 20% Recall  52.1% → 51.8%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600EDC-3CCC-4102-8C31-224F90D5A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667375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변화 폭은 작았고, 현재 선호 후보는 집계 피처 모델입니다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B8CC5B-396F-4247-A64E-085B7A46C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341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508892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17E868-A196-478D-AC59-7E27954B1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10706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실험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B43C4A-80D5-4537-A4F2-D55DAA7AF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52625"/>
            <a:ext cx="100584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복잡한 모델이 항상 더 낫지는 않았습니다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944535-8DB3-4456-AB7E-E3ADF4CA1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67125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Transformer는 일부 다음 행동 예측에서</a:t>
            </a:r>
          </a:p>
          <a:p xmlns:a="http://schemas.openxmlformats.org/drawingml/2006/main">
            <a:pPr algn="l">
              <a:defRPr sz="24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단순 기준보다 나은 결과를 입증하지 못했습니다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48F80A-D0E9-445E-B73E-E0DEA62F8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667375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별도 탐색 실험이며 CatBoost 모델과 직접 비교한 결과는 아님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476828-BE19-432D-9640-21A0C5EF7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341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889571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B298E2-B8E8-490F-BB31-B4ADFFDD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10706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생존분석 확장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C64007-66FF-4E30-8CCC-E2EBBD84A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52625"/>
            <a:ext cx="100584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7·14·30일 유지 곡선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5119CC-AF4F-4555-9071-6D04EC2BA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67125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합성 데이터로 만든 개념 데모입니다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F75DFD-028D-4210-8F4F-6E0D6238B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667375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실제 사용자 예측이나 검증된 생존모델 성능이 아닙니다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A7EA9A-A21F-40AD-B726-161690514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341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32289400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8EC5AF-45E7-47AF-9D0A-FE434C7C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10706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실제 운영 검증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ABAE7C-B08D-4DF5-B4E0-A5B680A71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19375"/>
            <a:ext cx="29527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69A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위험 점수</a:t>
            </a:r>
          </a:p>
          <a:p xmlns:a="http://schemas.openxmlformats.org/drawingml/2006/main">
            <a:pPr algn="ctr">
              <a:def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우선순위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3A44C8-AC4E-44EE-A13B-12F047835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38475"/>
            <a:ext cx="952500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713BF1-152B-4A73-9888-E7D72C4AB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619375"/>
            <a:ext cx="29527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69A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무작위 배정</a:t>
            </a:r>
          </a:p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캠페인 / 대조군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F99B07-71F8-42D1-BD19-58FCF3893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38475"/>
            <a:ext cx="952500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F01410-B0F6-4BE9-AA90-C5FB72489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619375"/>
            <a:ext cx="18097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69A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유지율</a:t>
            </a:r>
          </a:p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비용 비교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9CC987-E835-487F-8EEC-A4C0E46C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341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90618262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B2D549-D5BD-42B5-AD4A-A47DCED5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10706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다음 단계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B89417-FC0D-4E94-A65F-E5956B0A3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52625"/>
            <a:ext cx="100584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다음 달 데이터로 다시 검증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A92A78-9172-4F80-9FD3-73AC5D89C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67125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확률 보정과 시간 기준 검증</a:t>
            </a:r>
          </a:p>
          <a:p xmlns:a="http://schemas.openxmlformats.org/drawingml/2006/main">
            <a:pPr algn="l">
              <a:defRPr sz="24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캠페인 효과는 무작위 실험으로 확인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FF41FA-21FA-4471-AED5-C821B480C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667375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현재 결과는 한 기준일의 실험 결과입니다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492079-925E-4B05-A9BA-D2808313B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341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3008310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2026-09-27T19:30:34.6640000Z</dcterms:created>
  <dcterms:modified xsi:type="dcterms:W3CDTF">2026-09-27T19:30:34.6650000Z</dcterms:modified>
</coreProperties>
</file>